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69" r:id="rId5"/>
    <p:sldId id="270" r:id="rId6"/>
    <p:sldId id="271" r:id="rId7"/>
    <p:sldId id="272" r:id="rId8"/>
    <p:sldId id="273" r:id="rId9"/>
    <p:sldId id="274" r:id="rId10"/>
    <p:sldId id="275" r:id="rId11"/>
    <p:sldId id="276" r:id="rId12"/>
    <p:sldId id="277" r:id="rId13"/>
    <p:sldId id="278" r:id="rId14"/>
    <p:sldId id="279" r:id="rId15"/>
    <p:sldId id="287" r:id="rId16"/>
    <p:sldId id="259" r:id="rId17"/>
    <p:sldId id="260" r:id="rId18"/>
    <p:sldId id="281" r:id="rId19"/>
    <p:sldId id="261" r:id="rId20"/>
    <p:sldId id="282" r:id="rId21"/>
    <p:sldId id="283" r:id="rId22"/>
    <p:sldId id="284" r:id="rId23"/>
    <p:sldId id="285" r:id="rId24"/>
    <p:sldId id="286" r:id="rId25"/>
    <p:sldId id="267" r:id="rId26"/>
    <p:sldId id="268" r:id="rId27"/>
  </p:sldIdLst>
  <p:sldSz cx="18288000" cy="10287000"/>
  <p:notesSz cx="6858000" cy="9144000"/>
  <p:embeddedFontLst>
    <p:embeddedFont>
      <p:font typeface="Maven Pro" panose="020B0604020202020204" charset="0"/>
      <p:regular r:id="rId29"/>
    </p:embeddedFont>
    <p:embeddedFont>
      <p:font typeface="Maven Pro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6E562A-1B2F-4ECA-A957-113671A71E86}" v="1" dt="2025-03-05T17:59:14.6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25" d="100"/>
          <a:sy n="25" d="100"/>
        </p:scale>
        <p:origin x="365" y="8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Asmath" userId="4f688744e537bbc6" providerId="LiveId" clId="{9D6E562A-1B2F-4ECA-A957-113671A71E86}"/>
    <pc:docChg chg="undo custSel modSld">
      <pc:chgData name="Syed Asmath" userId="4f688744e537bbc6" providerId="LiveId" clId="{9D6E562A-1B2F-4ECA-A957-113671A71E86}" dt="2025-03-05T18:07:48.437" v="11" actId="1076"/>
      <pc:docMkLst>
        <pc:docMk/>
      </pc:docMkLst>
      <pc:sldChg chg="addSp delSp modSp mod">
        <pc:chgData name="Syed Asmath" userId="4f688744e537bbc6" providerId="LiveId" clId="{9D6E562A-1B2F-4ECA-A957-113671A71E86}" dt="2025-03-05T17:50:36.209" v="6" actId="255"/>
        <pc:sldMkLst>
          <pc:docMk/>
          <pc:sldMk cId="0" sldId="257"/>
        </pc:sldMkLst>
        <pc:spChg chg="mod">
          <ac:chgData name="Syed Asmath" userId="4f688744e537bbc6" providerId="LiveId" clId="{9D6E562A-1B2F-4ECA-A957-113671A71E86}" dt="2025-03-05T17:38:24.762" v="5" actId="21"/>
          <ac:spMkLst>
            <pc:docMk/>
            <pc:sldMk cId="0" sldId="257"/>
            <ac:spMk id="6" creationId="{00000000-0000-0000-0000-000000000000}"/>
          </ac:spMkLst>
        </pc:spChg>
        <pc:spChg chg="mod">
          <ac:chgData name="Syed Asmath" userId="4f688744e537bbc6" providerId="LiveId" clId="{9D6E562A-1B2F-4ECA-A957-113671A71E86}" dt="2025-03-05T17:50:36.209" v="6" actId="255"/>
          <ac:spMkLst>
            <pc:docMk/>
            <pc:sldMk cId="0" sldId="257"/>
            <ac:spMk id="7" creationId="{00000000-0000-0000-0000-000000000000}"/>
          </ac:spMkLst>
        </pc:spChg>
        <pc:graphicFrameChg chg="add del mod modGraphic">
          <ac:chgData name="Syed Asmath" userId="4f688744e537bbc6" providerId="LiveId" clId="{9D6E562A-1B2F-4ECA-A957-113671A71E86}" dt="2025-03-05T17:34:17.706" v="2" actId="478"/>
          <ac:graphicFrameMkLst>
            <pc:docMk/>
            <pc:sldMk cId="0" sldId="257"/>
            <ac:graphicFrameMk id="20" creationId="{0E326537-231F-3EF8-6D6F-06BAFE061D5E}"/>
          </ac:graphicFrameMkLst>
        </pc:graphicFrameChg>
      </pc:sldChg>
      <pc:sldChg chg="modSp mod">
        <pc:chgData name="Syed Asmath" userId="4f688744e537bbc6" providerId="LiveId" clId="{9D6E562A-1B2F-4ECA-A957-113671A71E86}" dt="2025-03-05T17:57:50.733" v="7" actId="14100"/>
        <pc:sldMkLst>
          <pc:docMk/>
          <pc:sldMk cId="3156578660" sldId="272"/>
        </pc:sldMkLst>
        <pc:spChg chg="mod">
          <ac:chgData name="Syed Asmath" userId="4f688744e537bbc6" providerId="LiveId" clId="{9D6E562A-1B2F-4ECA-A957-113671A71E86}" dt="2025-03-05T17:57:50.733" v="7" actId="14100"/>
          <ac:spMkLst>
            <pc:docMk/>
            <pc:sldMk cId="3156578660" sldId="272"/>
            <ac:spMk id="2" creationId="{A8251E65-C59F-B8DB-9F12-AB626E1A2857}"/>
          </ac:spMkLst>
        </pc:spChg>
      </pc:sldChg>
      <pc:sldChg chg="modSp">
        <pc:chgData name="Syed Asmath" userId="4f688744e537bbc6" providerId="LiveId" clId="{9D6E562A-1B2F-4ECA-A957-113671A71E86}" dt="2025-03-05T17:59:14.614" v="8" actId="20578"/>
        <pc:sldMkLst>
          <pc:docMk/>
          <pc:sldMk cId="2122633510" sldId="273"/>
        </pc:sldMkLst>
        <pc:spChg chg="mod">
          <ac:chgData name="Syed Asmath" userId="4f688744e537bbc6" providerId="LiveId" clId="{9D6E562A-1B2F-4ECA-A957-113671A71E86}" dt="2025-03-05T17:59:14.614" v="8" actId="20578"/>
          <ac:spMkLst>
            <pc:docMk/>
            <pc:sldMk cId="2122633510" sldId="273"/>
            <ac:spMk id="2" creationId="{73F63A70-6DB2-EBAB-1FCA-2BC80029F7E2}"/>
          </ac:spMkLst>
        </pc:spChg>
      </pc:sldChg>
      <pc:sldChg chg="modSp mod">
        <pc:chgData name="Syed Asmath" userId="4f688744e537bbc6" providerId="LiveId" clId="{9D6E562A-1B2F-4ECA-A957-113671A71E86}" dt="2025-03-05T18:01:24.444" v="9" actId="14100"/>
        <pc:sldMkLst>
          <pc:docMk/>
          <pc:sldMk cId="1035856821" sldId="275"/>
        </pc:sldMkLst>
        <pc:spChg chg="mod">
          <ac:chgData name="Syed Asmath" userId="4f688744e537bbc6" providerId="LiveId" clId="{9D6E562A-1B2F-4ECA-A957-113671A71E86}" dt="2025-03-05T18:01:24.444" v="9" actId="14100"/>
          <ac:spMkLst>
            <pc:docMk/>
            <pc:sldMk cId="1035856821" sldId="275"/>
            <ac:spMk id="2" creationId="{EBEA89B1-58A6-BBE3-E56B-F6BC81D1DA8F}"/>
          </ac:spMkLst>
        </pc:spChg>
      </pc:sldChg>
      <pc:sldChg chg="modSp mod">
        <pc:chgData name="Syed Asmath" userId="4f688744e537bbc6" providerId="LiveId" clId="{9D6E562A-1B2F-4ECA-A957-113671A71E86}" dt="2025-03-05T18:04:42.453" v="10" actId="1076"/>
        <pc:sldMkLst>
          <pc:docMk/>
          <pc:sldMk cId="3578363779" sldId="277"/>
        </pc:sldMkLst>
        <pc:spChg chg="mod">
          <ac:chgData name="Syed Asmath" userId="4f688744e537bbc6" providerId="LiveId" clId="{9D6E562A-1B2F-4ECA-A957-113671A71E86}" dt="2025-03-05T18:04:42.453" v="10" actId="1076"/>
          <ac:spMkLst>
            <pc:docMk/>
            <pc:sldMk cId="3578363779" sldId="277"/>
            <ac:spMk id="4" creationId="{4A77DA4A-5F65-8D22-9B38-2361C8D37049}"/>
          </ac:spMkLst>
        </pc:spChg>
      </pc:sldChg>
      <pc:sldChg chg="modSp mod">
        <pc:chgData name="Syed Asmath" userId="4f688744e537bbc6" providerId="LiveId" clId="{9D6E562A-1B2F-4ECA-A957-113671A71E86}" dt="2025-03-05T18:07:48.437" v="11" actId="1076"/>
        <pc:sldMkLst>
          <pc:docMk/>
          <pc:sldMk cId="1646860622" sldId="287"/>
        </pc:sldMkLst>
        <pc:spChg chg="mod">
          <ac:chgData name="Syed Asmath" userId="4f688744e537bbc6" providerId="LiveId" clId="{9D6E562A-1B2F-4ECA-A957-113671A71E86}" dt="2025-03-05T18:07:48.437" v="11" actId="1076"/>
          <ac:spMkLst>
            <pc:docMk/>
            <pc:sldMk cId="1646860622" sldId="287"/>
            <ac:spMk id="2" creationId="{16A4B191-9A8B-6DE8-2378-EFE27201E38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3T09:01:51.514"/>
    </inkml:context>
    <inkml:brush xml:id="br0">
      <inkml:brushProperty name="width" value="0.035" units="cm"/>
      <inkml:brushProperty name="height" value="0.03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3T09:03:18.131"/>
    </inkml:context>
    <inkml:brush xml:id="br0">
      <inkml:brushProperty name="width" value="0.035" units="cm"/>
      <inkml:brushProperty name="height" value="0.03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3T09:03:22.963"/>
    </inkml:context>
    <inkml:brush xml:id="br0">
      <inkml:brushProperty name="width" value="0.035" units="cm"/>
      <inkml:brushProperty name="height" value="0.035" units="cm"/>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3T09:03:40.465"/>
    </inkml:context>
    <inkml:brush xml:id="br0">
      <inkml:brushProperty name="width" value="0.035" units="cm"/>
      <inkml:brushProperty name="height" value="0.035" units="cm"/>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3T09:11:18.537"/>
    </inkml:context>
    <inkml:brush xml:id="br0">
      <inkml:brushProperty name="width" value="0.035" units="cm"/>
      <inkml:brushProperty name="height" value="0.035" units="cm"/>
    </inkml:brush>
  </inkml:definitions>
  <inkml:trace contextRef="#ctx0" brushRef="#br0">0 3 24575,'358'-2'0,"375"4"0,-170 2 0,-534-8-1365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DDA1B-78EF-4350-B5BC-5E4FADF92C6A}" type="datetimeFigureOut">
              <a:rPr lang="en-IN" smtClean="0"/>
              <a:t>05-03-2025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57529-9B11-47A6-AD26-7ED4E6C5DE67}" type="slidenum">
              <a:rPr lang="en-IN" smtClean="0"/>
              <a:t>‹#›</a:t>
            </a:fld>
            <a:endParaRPr lang="en-IN"/>
          </a:p>
        </p:txBody>
      </p:sp>
    </p:spTree>
    <p:extLst>
      <p:ext uri="{BB962C8B-B14F-4D97-AF65-F5344CB8AC3E}">
        <p14:creationId xmlns:p14="http://schemas.microsoft.com/office/powerpoint/2010/main" val="128334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157529-9B11-47A6-AD26-7ED4E6C5DE67}" type="slidenum">
              <a:rPr lang="en-IN" smtClean="0"/>
              <a:t>16</a:t>
            </a:fld>
            <a:endParaRPr lang="en-IN"/>
          </a:p>
        </p:txBody>
      </p:sp>
    </p:spTree>
    <p:extLst>
      <p:ext uri="{BB962C8B-B14F-4D97-AF65-F5344CB8AC3E}">
        <p14:creationId xmlns:p14="http://schemas.microsoft.com/office/powerpoint/2010/main" val="2724162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customXml" Target="../ink/ink4.xml"/><Relationship Id="rId3" Type="http://schemas.openxmlformats.org/officeDocument/2006/relationships/image" Target="../media/image6.svg"/><Relationship Id="rId7" Type="http://schemas.openxmlformats.org/officeDocument/2006/relationships/image" Target="../media/image1.png"/><Relationship Id="rId12"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customXml" Target="../ink/ink2.xml"/><Relationship Id="rId5" Type="http://schemas.openxmlformats.org/officeDocument/2006/relationships/image" Target="../media/image3.png"/><Relationship Id="rId15" Type="http://schemas.openxmlformats.org/officeDocument/2006/relationships/image" Target="../media/image10.png"/><Relationship Id="rId10"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customXml" Target="../ink/ink1.xml"/><Relationship Id="rId14" Type="http://schemas.openxmlformats.org/officeDocument/2006/relationships/customXml" Target="../ink/ink5.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9" name="Freeform 9"/>
          <p:cNvSpPr/>
          <p:nvPr/>
        </p:nvSpPr>
        <p:spPr>
          <a:xfrm flipV="1">
            <a:off x="14554200" y="-636032"/>
            <a:ext cx="2716317" cy="1358159"/>
          </a:xfrm>
          <a:custGeom>
            <a:avLst/>
            <a:gdLst/>
            <a:ahLst/>
            <a:cxnLst/>
            <a:rect l="l" t="t" r="r" b="b"/>
            <a:pathLst>
              <a:path w="2716317" h="1358159">
                <a:moveTo>
                  <a:pt x="0" y="1358159"/>
                </a:moveTo>
                <a:lnTo>
                  <a:pt x="2716317" y="1358159"/>
                </a:lnTo>
                <a:lnTo>
                  <a:pt x="2716317" y="0"/>
                </a:lnTo>
                <a:lnTo>
                  <a:pt x="0" y="0"/>
                </a:lnTo>
                <a:lnTo>
                  <a:pt x="0" y="135815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2362199" y="800372"/>
            <a:ext cx="14908317" cy="2215991"/>
          </a:xfrm>
          <a:prstGeom prst="rect">
            <a:avLst/>
          </a:prstGeom>
        </p:spPr>
        <p:txBody>
          <a:bodyPr wrap="square" lIns="0" tIns="0" rIns="0" bIns="0" rtlCol="0" anchor="t">
            <a:spAutoFit/>
          </a:bodyPr>
          <a:lstStyle/>
          <a:p>
            <a:pPr lvl="0" algn="ctr">
              <a:defRPr/>
            </a:pPr>
            <a:r>
              <a:rPr lang="en-IN" sz="3600" b="1" dirty="0">
                <a:solidFill>
                  <a:prstClr val="black"/>
                </a:solidFill>
                <a:latin typeface="Maven Pro" panose="020B0604020202020204" charset="0"/>
              </a:rPr>
              <a:t>RAGHU ENGINEERING COLLEGE</a:t>
            </a:r>
            <a:r>
              <a:rPr lang="en-IN" sz="3600" b="1" dirty="0">
                <a:solidFill>
                  <a:srgbClr val="000000"/>
                </a:solidFill>
                <a:latin typeface="Maven Pro" panose="020B0604020202020204" charset="0"/>
              </a:rPr>
              <a:t> </a:t>
            </a:r>
          </a:p>
          <a:p>
            <a:pPr lvl="0" algn="ctr">
              <a:defRPr/>
            </a:pPr>
            <a:r>
              <a:rPr lang="en-IN" sz="3600" b="1" dirty="0">
                <a:solidFill>
                  <a:srgbClr val="000000"/>
                </a:solidFill>
                <a:latin typeface="Maven Pro" panose="020B0604020202020204" charset="0"/>
              </a:rPr>
              <a:t>Accredited by NAAC A+ and NBA, Affiliated to JNTU-GV(Vizianagaram) </a:t>
            </a:r>
            <a:r>
              <a:rPr lang="en-IN" sz="3600" b="1" dirty="0" err="1">
                <a:solidFill>
                  <a:srgbClr val="000000"/>
                </a:solidFill>
                <a:latin typeface="Maven Pro" panose="020B0604020202020204" charset="0"/>
              </a:rPr>
              <a:t>Dakamarri</a:t>
            </a:r>
            <a:r>
              <a:rPr lang="en-IN" sz="3600" b="1" dirty="0">
                <a:solidFill>
                  <a:srgbClr val="000000"/>
                </a:solidFill>
                <a:latin typeface="Maven Pro" panose="020B0604020202020204" charset="0"/>
              </a:rPr>
              <a:t> (V), </a:t>
            </a:r>
            <a:r>
              <a:rPr lang="en-IN" sz="3600" b="1" dirty="0" err="1">
                <a:solidFill>
                  <a:srgbClr val="000000"/>
                </a:solidFill>
                <a:latin typeface="Maven Pro" panose="020B0604020202020204" charset="0"/>
              </a:rPr>
              <a:t>Bheemunipatnam</a:t>
            </a:r>
            <a:r>
              <a:rPr lang="en-IN" sz="3600" b="1" dirty="0">
                <a:solidFill>
                  <a:srgbClr val="000000"/>
                </a:solidFill>
                <a:latin typeface="Maven Pro" panose="020B0604020202020204" charset="0"/>
              </a:rPr>
              <a:t> (M), Visakhapatnam</a:t>
            </a:r>
          </a:p>
          <a:p>
            <a:pPr lvl="0" algn="ctr">
              <a:defRPr/>
            </a:pPr>
            <a:r>
              <a:rPr lang="en-IN" sz="3600" b="1" dirty="0">
                <a:solidFill>
                  <a:srgbClr val="000000"/>
                </a:solidFill>
                <a:latin typeface="Maven Pro" panose="020B0604020202020204" charset="0"/>
              </a:rPr>
              <a:t>DEPARTMENT OF COMPUTER SCIENCE &amp; ENGINEERING</a:t>
            </a: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14297025" y="6296025"/>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0" y="8039083"/>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7657548" y="293921"/>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838200" y="9564872"/>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2" name="Picture 11">
            <a:extLst>
              <a:ext uri="{FF2B5EF4-FFF2-40B4-BE49-F238E27FC236}">
                <a16:creationId xmlns:a16="http://schemas.microsoft.com/office/drawing/2014/main" id="{9EC7851D-F0DB-45CC-B2E5-CC7FD710308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114636"/>
            <a:ext cx="2752646" cy="2620997"/>
          </a:xfrm>
          <a:prstGeom prst="rect">
            <a:avLst/>
          </a:prstGeom>
        </p:spPr>
      </p:pic>
      <p:sp>
        <p:nvSpPr>
          <p:cNvPr id="14" name="Rectangle 13">
            <a:extLst>
              <a:ext uri="{FF2B5EF4-FFF2-40B4-BE49-F238E27FC236}">
                <a16:creationId xmlns:a16="http://schemas.microsoft.com/office/drawing/2014/main" id="{F3FDEF26-2F52-491C-9B68-C4A0C44D82B9}"/>
              </a:ext>
            </a:extLst>
          </p:cNvPr>
          <p:cNvSpPr/>
          <p:nvPr/>
        </p:nvSpPr>
        <p:spPr>
          <a:xfrm>
            <a:off x="2964596" y="3617394"/>
            <a:ext cx="13285683" cy="1446550"/>
          </a:xfrm>
          <a:prstGeom prst="rect">
            <a:avLst/>
          </a:prstGeom>
        </p:spPr>
        <p:txBody>
          <a:bodyPr wrap="square">
            <a:spAutoFit/>
          </a:bodyPr>
          <a:lstStyle/>
          <a:p>
            <a:pPr lvl="0" algn="ctr">
              <a:defRPr/>
            </a:pPr>
            <a:r>
              <a:rPr lang="en-US" sz="4400" b="1" dirty="0">
                <a:solidFill>
                  <a:srgbClr val="252930"/>
                </a:solidFill>
                <a:latin typeface="Maven Pro Bold"/>
                <a:ea typeface="Maven Pro Bold"/>
                <a:cs typeface="Maven Pro Bold"/>
                <a:sym typeface="Maven Pro Bold"/>
              </a:rPr>
              <a:t>A LEARNING MODEL ON CUSTOMER CHURN FORECASTING FOR TELECOM PROVIDERS</a:t>
            </a:r>
          </a:p>
        </p:txBody>
      </p:sp>
      <p:sp>
        <p:nvSpPr>
          <p:cNvPr id="15" name="Rectangle 14">
            <a:extLst>
              <a:ext uri="{FF2B5EF4-FFF2-40B4-BE49-F238E27FC236}">
                <a16:creationId xmlns:a16="http://schemas.microsoft.com/office/drawing/2014/main" id="{25806C13-B065-4555-8377-1B1B5B169927}"/>
              </a:ext>
            </a:extLst>
          </p:cNvPr>
          <p:cNvSpPr/>
          <p:nvPr/>
        </p:nvSpPr>
        <p:spPr>
          <a:xfrm>
            <a:off x="1143000" y="7013120"/>
            <a:ext cx="9144000" cy="1754326"/>
          </a:xfrm>
          <a:prstGeom prst="rect">
            <a:avLst/>
          </a:prstGeom>
        </p:spPr>
        <p:txBody>
          <a:bodyPr>
            <a:spAutoFit/>
          </a:bodyPr>
          <a:lstStyle/>
          <a:p>
            <a:pPr lvl="0">
              <a:defRPr/>
            </a:pP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sym typeface="Maven Pro"/>
              </a:rPr>
              <a:t>Under the esteemed guidance of,</a:t>
            </a:r>
          </a:p>
          <a:p>
            <a:pPr lvl="0">
              <a:defRPr/>
            </a:pP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Mr. A. A. </a:t>
            </a:r>
            <a:r>
              <a:rPr lang="en-US" sz="3600" kern="150" dirty="0" err="1">
                <a:solidFill>
                  <a:prstClr val="black"/>
                </a:solidFill>
                <a:latin typeface="Maven Pro" panose="020B0604020202020204" charset="0"/>
                <a:ea typeface="NSimSun" panose="02010609030101010101" pitchFamily="49" charset="-122"/>
                <a:cs typeface="Times New Roman" panose="02020603050405020304" pitchFamily="18" charset="0"/>
              </a:rPr>
              <a:t>Narasimham</a:t>
            </a: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a:t>
            </a:r>
            <a:b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b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Assistant Professor.</a:t>
            </a:r>
            <a:endParaRPr lang="en-US" sz="3600" dirty="0">
              <a:solidFill>
                <a:srgbClr val="252930"/>
              </a:solidFill>
              <a:latin typeface="Maven Pro" panose="020B0604020202020204" charset="0"/>
              <a:ea typeface="Maven Pro"/>
              <a:cs typeface="Maven Pro"/>
              <a:sym typeface="Maven Pro"/>
            </a:endParaRPr>
          </a:p>
        </p:txBody>
      </p:sp>
      <p:sp>
        <p:nvSpPr>
          <p:cNvPr id="16" name="Rectangle 15">
            <a:extLst>
              <a:ext uri="{FF2B5EF4-FFF2-40B4-BE49-F238E27FC236}">
                <a16:creationId xmlns:a16="http://schemas.microsoft.com/office/drawing/2014/main" id="{1E26779E-99D6-4BEE-9729-048C8CF20280}"/>
              </a:ext>
            </a:extLst>
          </p:cNvPr>
          <p:cNvSpPr/>
          <p:nvPr/>
        </p:nvSpPr>
        <p:spPr>
          <a:xfrm>
            <a:off x="9774129" y="6966725"/>
            <a:ext cx="9144000" cy="2782813"/>
          </a:xfrm>
          <a:prstGeom prst="rect">
            <a:avLst/>
          </a:prstGeom>
        </p:spPr>
        <p:txBody>
          <a:bodyPr>
            <a:spAutoFit/>
          </a:bodyPr>
          <a:lstStyle/>
          <a:p>
            <a:pPr lvl="0">
              <a:lnSpc>
                <a:spcPts val="3736"/>
              </a:lnSpc>
              <a:defRPr/>
            </a:pPr>
            <a:r>
              <a:rPr lang="en-US" sz="3600" b="1" dirty="0">
                <a:solidFill>
                  <a:srgbClr val="252930"/>
                </a:solidFill>
                <a:latin typeface="Maven Pro" panose="020B0604020202020204" charset="0"/>
                <a:ea typeface="Maven Pro"/>
                <a:cs typeface="Maven Pro"/>
                <a:sym typeface="Maven Pro"/>
              </a:rPr>
              <a:t>Presented by – BATCH 42 (CSE - C)</a:t>
            </a:r>
          </a:p>
          <a:p>
            <a:pPr lvl="0">
              <a:defRPr/>
            </a:pP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SV </a:t>
            </a:r>
            <a:r>
              <a:rPr lang="en-US" sz="3600" kern="150" dirty="0" err="1">
                <a:solidFill>
                  <a:prstClr val="black"/>
                </a:solidFill>
                <a:latin typeface="Maven Pro" panose="020B0604020202020204" charset="0"/>
                <a:ea typeface="NSimSun" panose="02010609030101010101" pitchFamily="49" charset="-122"/>
                <a:cs typeface="Times New Roman" panose="02020603050405020304" pitchFamily="18" charset="0"/>
              </a:rPr>
              <a:t>Manikanta</a:t>
            </a: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                  21981A05D9</a:t>
            </a:r>
            <a:b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b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Syed </a:t>
            </a:r>
            <a:r>
              <a:rPr lang="en-US" sz="3600" kern="150" dirty="0" err="1">
                <a:solidFill>
                  <a:prstClr val="black"/>
                </a:solidFill>
                <a:latin typeface="Maven Pro" panose="020B0604020202020204" charset="0"/>
                <a:ea typeface="NSimSun" panose="02010609030101010101" pitchFamily="49" charset="-122"/>
                <a:cs typeface="Times New Roman" panose="02020603050405020304" pitchFamily="18" charset="0"/>
              </a:rPr>
              <a:t>Asmath</a:t>
            </a: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                   21981A05F9</a:t>
            </a:r>
            <a:b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b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T Ramakrishna                21981A05G5</a:t>
            </a:r>
            <a:b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br>
            <a:r>
              <a:rPr lang="en-US" sz="3600" kern="150" dirty="0">
                <a:solidFill>
                  <a:prstClr val="black"/>
                </a:solidFill>
                <a:latin typeface="Maven Pro" panose="020B0604020202020204" charset="0"/>
                <a:ea typeface="NSimSun" panose="02010609030101010101" pitchFamily="49" charset="-122"/>
                <a:cs typeface="Times New Roman" panose="02020603050405020304" pitchFamily="18" charset="0"/>
              </a:rPr>
              <a:t>T Shalini                          21981A05H1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160009" y="3429683"/>
            <a:ext cx="13967983" cy="5060039"/>
            <a:chOff x="0" y="0"/>
            <a:chExt cx="3678810" cy="1332685"/>
          </a:xfrm>
        </p:grpSpPr>
        <p:sp>
          <p:nvSpPr>
            <p:cNvPr id="3" name="Freeform 3"/>
            <p:cNvSpPr/>
            <p:nvPr/>
          </p:nvSpPr>
          <p:spPr>
            <a:xfrm>
              <a:off x="0" y="0"/>
              <a:ext cx="3678810" cy="1332685"/>
            </a:xfrm>
            <a:custGeom>
              <a:avLst/>
              <a:gdLst/>
              <a:ahLst/>
              <a:cxnLst/>
              <a:rect l="l" t="t" r="r" b="b"/>
              <a:pathLst>
                <a:path w="3678810" h="1332685">
                  <a:moveTo>
                    <a:pt x="28267" y="0"/>
                  </a:moveTo>
                  <a:lnTo>
                    <a:pt x="3650543" y="0"/>
                  </a:lnTo>
                  <a:cubicBezTo>
                    <a:pt x="3666155" y="0"/>
                    <a:pt x="3678810" y="12656"/>
                    <a:pt x="3678810" y="28267"/>
                  </a:cubicBezTo>
                  <a:lnTo>
                    <a:pt x="3678810" y="1304418"/>
                  </a:lnTo>
                  <a:cubicBezTo>
                    <a:pt x="3678810" y="1320029"/>
                    <a:pt x="3666155" y="1332685"/>
                    <a:pt x="3650543" y="1332685"/>
                  </a:cubicBezTo>
                  <a:lnTo>
                    <a:pt x="28267" y="1332685"/>
                  </a:lnTo>
                  <a:cubicBezTo>
                    <a:pt x="20770" y="1332685"/>
                    <a:pt x="13580" y="1329707"/>
                    <a:pt x="8279" y="1324406"/>
                  </a:cubicBezTo>
                  <a:cubicBezTo>
                    <a:pt x="2978" y="1319105"/>
                    <a:pt x="0" y="1311915"/>
                    <a:pt x="0" y="1304418"/>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sp>
        <p:sp>
          <p:nvSpPr>
            <p:cNvPr id="4" name="TextBox 4"/>
            <p:cNvSpPr txBox="1"/>
            <p:nvPr/>
          </p:nvSpPr>
          <p:spPr>
            <a:xfrm>
              <a:off x="0" y="-38100"/>
              <a:ext cx="3678810" cy="137078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907324" y="3731571"/>
            <a:ext cx="5094018" cy="4380762"/>
            <a:chOff x="0" y="-304800"/>
            <a:chExt cx="6792024" cy="5841016"/>
          </a:xfrm>
        </p:grpSpPr>
        <p:sp>
          <p:nvSpPr>
            <p:cNvPr id="6" name="TextBox 6"/>
            <p:cNvSpPr txBox="1"/>
            <p:nvPr/>
          </p:nvSpPr>
          <p:spPr>
            <a:xfrm>
              <a:off x="0" y="-304800"/>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Abstract</a:t>
              </a:r>
            </a:p>
          </p:txBody>
        </p:sp>
        <p:sp>
          <p:nvSpPr>
            <p:cNvPr id="7" name="TextBox 7"/>
            <p:cNvSpPr txBox="1"/>
            <p:nvPr/>
          </p:nvSpPr>
          <p:spPr>
            <a:xfrm>
              <a:off x="0" y="1246541"/>
              <a:ext cx="6792024" cy="1219308"/>
            </a:xfrm>
            <a:prstGeom prst="rect">
              <a:avLst/>
            </a:prstGeom>
          </p:spPr>
          <p:txBody>
            <a:bodyPr lIns="0" tIns="0" rIns="0" bIns="0" rtlCol="0" anchor="t">
              <a:spAutoFit/>
            </a:bodyPr>
            <a:lstStyle/>
            <a:p>
              <a:pPr marL="872741" lvl="1" indent="-436370" algn="just">
                <a:lnSpc>
                  <a:spcPts val="8084"/>
                </a:lnSpc>
                <a:buFont typeface="Arial"/>
                <a:buChar char="•"/>
              </a:pPr>
              <a:r>
                <a:rPr lang="en-US" sz="4000" dirty="0">
                  <a:sym typeface="Maven Pro"/>
                </a:rPr>
                <a:t>Literature Survey</a:t>
              </a:r>
            </a:p>
          </p:txBody>
        </p:sp>
        <p:sp>
          <p:nvSpPr>
            <p:cNvPr id="8" name="TextBox 8"/>
            <p:cNvSpPr txBox="1"/>
            <p:nvPr/>
          </p:nvSpPr>
          <p:spPr>
            <a:xfrm>
              <a:off x="0" y="2797883"/>
              <a:ext cx="6792024" cy="1186992"/>
            </a:xfrm>
            <a:prstGeom prst="rect">
              <a:avLst/>
            </a:prstGeom>
          </p:spPr>
          <p:txBody>
            <a:bodyPr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Existing Systems</a:t>
              </a:r>
            </a:p>
          </p:txBody>
        </p:sp>
        <p:sp>
          <p:nvSpPr>
            <p:cNvPr id="9" name="TextBox 9"/>
            <p:cNvSpPr txBox="1"/>
            <p:nvPr/>
          </p:nvSpPr>
          <p:spPr>
            <a:xfrm>
              <a:off x="0" y="4349224"/>
              <a:ext cx="6792024" cy="1186992"/>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Proposed System</a:t>
              </a:r>
            </a:p>
          </p:txBody>
        </p:sp>
      </p:grpSp>
      <p:grpSp>
        <p:nvGrpSpPr>
          <p:cNvPr id="10" name="Group 10"/>
          <p:cNvGrpSpPr/>
          <p:nvPr/>
        </p:nvGrpSpPr>
        <p:grpSpPr>
          <a:xfrm>
            <a:off x="9736950" y="3756179"/>
            <a:ext cx="5643726" cy="4262386"/>
            <a:chOff x="126999" y="-304800"/>
            <a:chExt cx="7524968" cy="5683181"/>
          </a:xfrm>
        </p:grpSpPr>
        <p:sp>
          <p:nvSpPr>
            <p:cNvPr id="11" name="TextBox 11"/>
            <p:cNvSpPr txBox="1"/>
            <p:nvPr/>
          </p:nvSpPr>
          <p:spPr>
            <a:xfrm>
              <a:off x="190500" y="-304800"/>
              <a:ext cx="7461467" cy="1186992"/>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Use Case Diagram</a:t>
              </a:r>
            </a:p>
          </p:txBody>
        </p:sp>
        <p:sp>
          <p:nvSpPr>
            <p:cNvPr id="12" name="TextBox 12"/>
            <p:cNvSpPr txBox="1"/>
            <p:nvPr/>
          </p:nvSpPr>
          <p:spPr>
            <a:xfrm>
              <a:off x="126999" y="1246541"/>
              <a:ext cx="7461466" cy="1186992"/>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Sequence Diagram</a:t>
              </a:r>
            </a:p>
          </p:txBody>
        </p:sp>
        <p:sp>
          <p:nvSpPr>
            <p:cNvPr id="13" name="TextBox 13"/>
            <p:cNvSpPr txBox="1"/>
            <p:nvPr/>
          </p:nvSpPr>
          <p:spPr>
            <a:xfrm>
              <a:off x="126999" y="2797466"/>
              <a:ext cx="6792024" cy="1186992"/>
            </a:xfrm>
            <a:prstGeom prst="rect">
              <a:avLst/>
            </a:prstGeom>
          </p:spPr>
          <p:txBody>
            <a:bodyPr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Activity Diagram</a:t>
              </a:r>
            </a:p>
          </p:txBody>
        </p:sp>
        <p:sp>
          <p:nvSpPr>
            <p:cNvPr id="14" name="TextBox 14"/>
            <p:cNvSpPr txBox="1"/>
            <p:nvPr/>
          </p:nvSpPr>
          <p:spPr>
            <a:xfrm>
              <a:off x="157139" y="4260522"/>
              <a:ext cx="6792024" cy="1117859"/>
            </a:xfrm>
            <a:prstGeom prst="rect">
              <a:avLst/>
            </a:prstGeom>
          </p:spPr>
          <p:txBody>
            <a:bodyPr lIns="0" tIns="0" rIns="0" bIns="0" rtlCol="0" anchor="t">
              <a:spAutoFit/>
            </a:bodyPr>
            <a:lstStyle/>
            <a:p>
              <a:pPr marL="872741" lvl="1" indent="-436370" algn="just">
                <a:lnSpc>
                  <a:spcPts val="8084"/>
                </a:lnSpc>
                <a:buFont typeface="Arial"/>
                <a:buChar char="•"/>
              </a:pPr>
              <a:r>
                <a:rPr lang="en-US" sz="4042" dirty="0">
                  <a:solidFill>
                    <a:srgbClr val="252930"/>
                  </a:solidFill>
                  <a:latin typeface="Maven Pro"/>
                  <a:ea typeface="Maven Pro"/>
                  <a:cs typeface="Maven Pro"/>
                  <a:sym typeface="Maven Pro"/>
                </a:rPr>
                <a:t>Reference</a:t>
              </a:r>
            </a:p>
          </p:txBody>
        </p:sp>
      </p:grpSp>
      <p:sp>
        <p:nvSpPr>
          <p:cNvPr id="15" name="TextBox 15"/>
          <p:cNvSpPr txBox="1"/>
          <p:nvPr/>
        </p:nvSpPr>
        <p:spPr>
          <a:xfrm>
            <a:off x="4995148" y="1860291"/>
            <a:ext cx="8297704" cy="845492"/>
          </a:xfrm>
          <a:prstGeom prst="rect">
            <a:avLst/>
          </a:prstGeom>
        </p:spPr>
        <p:txBody>
          <a:bodyPr lIns="0" tIns="0" rIns="0" bIns="0" rtlCol="0" anchor="t">
            <a:spAutoFit/>
          </a:bodyPr>
          <a:lstStyle/>
          <a:p>
            <a:pPr algn="ctr">
              <a:lnSpc>
                <a:spcPts val="5841"/>
              </a:lnSpc>
            </a:pPr>
            <a:r>
              <a:rPr lang="en-US" sz="7301" b="1" dirty="0">
                <a:solidFill>
                  <a:srgbClr val="252D37"/>
                </a:solidFill>
                <a:latin typeface="Maven Pro Bold"/>
                <a:ea typeface="Maven Pro Bold"/>
                <a:cs typeface="Maven Pro Bold"/>
                <a:sym typeface="Maven Pro Bold"/>
              </a:rPr>
              <a:t>OVERVIEW</a:t>
            </a:r>
          </a:p>
        </p:txBody>
      </p:sp>
      <p:sp>
        <p:nvSpPr>
          <p:cNvPr id="16" name="Freeform 16"/>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16" name="Freeform 6">
            <a:extLst>
              <a:ext uri="{FF2B5EF4-FFF2-40B4-BE49-F238E27FC236}">
                <a16:creationId xmlns:a16="http://schemas.microsoft.com/office/drawing/2014/main" id="{14614C25-A182-7F5C-A7EF-8D22BDEFF078}"/>
              </a:ext>
            </a:extLst>
          </p:cNvPr>
          <p:cNvSpPr/>
          <p:nvPr/>
        </p:nvSpPr>
        <p:spPr>
          <a:xfrm>
            <a:off x="14554200" y="9114437"/>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TextBox 2">
            <a:extLst>
              <a:ext uri="{FF2B5EF4-FFF2-40B4-BE49-F238E27FC236}">
                <a16:creationId xmlns:a16="http://schemas.microsoft.com/office/drawing/2014/main" id="{B7A0B604-F4D0-9903-9B47-E373EFC9DA4E}"/>
              </a:ext>
            </a:extLst>
          </p:cNvPr>
          <p:cNvSpPr txBox="1"/>
          <p:nvPr/>
        </p:nvSpPr>
        <p:spPr>
          <a:xfrm>
            <a:off x="1905000" y="3034727"/>
            <a:ext cx="13906500" cy="5872570"/>
          </a:xfrm>
          <a:prstGeom prst="rect">
            <a:avLst/>
          </a:prstGeom>
        </p:spPr>
        <p:txBody>
          <a:bodyPr wrap="square" lIns="0" tIns="0" rIns="0" bIns="0" rtlCol="0" anchor="t">
            <a:spAutoFit/>
          </a:bodyPr>
          <a:lstStyle/>
          <a:p>
            <a:pPr algn="just">
              <a:lnSpc>
                <a:spcPts val="4200"/>
              </a:lnSpc>
            </a:pPr>
            <a:r>
              <a:rPr lang="en-US" sz="3000" dirty="0">
                <a:latin typeface="Maven Pro" panose="020B0604020202020204" charset="0"/>
              </a:rPr>
              <a:t>In the competitive telecom industry, keeping customers is vital for profit and growth. This project aims to understand why customers leave their telecom providers. By looking at past data on customer behavior, service usage, and interactions, we want to find patterns that show when a customer might leave. We will collect and study different information, like account details, service history, and feedback. This will help us identify key signs of potential departure and the reasons behind it. With these insights, telecom companies can create strategies to improve customer satisfaction, enhance service quality, and take proactive steps to keep their customers. The main goal is to provide useful information that helps telecom providers reduce customer turnover, improve retention efforts, and build long-term relationships with their customers.</a:t>
            </a:r>
            <a:endParaRPr lang="en-US" sz="3000" dirty="0">
              <a:solidFill>
                <a:srgbClr val="252D37"/>
              </a:solidFill>
              <a:latin typeface="Maven Pro" panose="020B0604020202020204" charset="0"/>
              <a:ea typeface="Maven Pro"/>
              <a:cs typeface="Maven Pro"/>
              <a:sym typeface="Maven Pro"/>
            </a:endParaRPr>
          </a:p>
        </p:txBody>
      </p:sp>
      <p:sp>
        <p:nvSpPr>
          <p:cNvPr id="14" name="TextBox 3">
            <a:extLst>
              <a:ext uri="{FF2B5EF4-FFF2-40B4-BE49-F238E27FC236}">
                <a16:creationId xmlns:a16="http://schemas.microsoft.com/office/drawing/2014/main" id="{B7AF7927-42B1-0077-79CC-0DF065807943}"/>
              </a:ext>
            </a:extLst>
          </p:cNvPr>
          <p:cNvSpPr txBox="1"/>
          <p:nvPr/>
        </p:nvSpPr>
        <p:spPr>
          <a:xfrm>
            <a:off x="4596087" y="1912981"/>
            <a:ext cx="9095826" cy="920751"/>
          </a:xfrm>
          <a:prstGeom prst="rect">
            <a:avLst/>
          </a:prstGeom>
        </p:spPr>
        <p:txBody>
          <a:bodyPr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ABSTRACT</a:t>
            </a:r>
          </a:p>
        </p:txBody>
      </p:sp>
      <p:sp>
        <p:nvSpPr>
          <p:cNvPr id="15" name="Freeform 5">
            <a:extLst>
              <a:ext uri="{FF2B5EF4-FFF2-40B4-BE49-F238E27FC236}">
                <a16:creationId xmlns:a16="http://schemas.microsoft.com/office/drawing/2014/main" id="{BAE6ACAF-14DE-13F1-EADE-13CE87A74CE0}"/>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7">
            <a:extLst>
              <a:ext uri="{FF2B5EF4-FFF2-40B4-BE49-F238E27FC236}">
                <a16:creationId xmlns:a16="http://schemas.microsoft.com/office/drawing/2014/main" id="{62FE4C4F-6356-2D76-3258-1FB2E165194F}"/>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37438D38-6DE5-0D36-17EB-E96B43BF708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3497CB4-EB51-AA1B-7628-4136AE8ED482}"/>
              </a:ext>
            </a:extLst>
          </p:cNvPr>
          <p:cNvSpPr txBox="1"/>
          <p:nvPr/>
        </p:nvSpPr>
        <p:spPr>
          <a:xfrm>
            <a:off x="1064116" y="3173730"/>
            <a:ext cx="7067106" cy="3939540"/>
          </a:xfrm>
          <a:prstGeom prst="rect">
            <a:avLst/>
          </a:prstGeom>
        </p:spPr>
        <p:txBody>
          <a:bodyPr wrap="square" lIns="0" tIns="0" rIns="0" bIns="0" rtlCol="0" anchor="t">
            <a:spAutoFit/>
          </a:bodyPr>
          <a:lstStyle/>
          <a:p>
            <a:pPr algn="just"/>
            <a:r>
              <a:rPr lang="en-US" sz="3200" b="1" dirty="0">
                <a:latin typeface="Maven Pro" panose="020B0604020202020204" charset="0"/>
              </a:rPr>
              <a:t>Algorithms</a:t>
            </a:r>
            <a:endParaRPr lang="en-US" sz="3200" dirty="0">
              <a:latin typeface="Maven Pro" panose="020B0604020202020204" charset="0"/>
            </a:endParaRPr>
          </a:p>
          <a:p>
            <a:pPr algn="just"/>
            <a:endParaRPr lang="en-US" sz="3200" dirty="0">
              <a:latin typeface="Maven Pro" panose="020B0604020202020204" charset="0"/>
            </a:endParaRPr>
          </a:p>
          <a:p>
            <a:pPr algn="just"/>
            <a:r>
              <a:rPr lang="en-US" sz="3200" b="1" dirty="0">
                <a:latin typeface="Maven Pro" panose="020B0604020202020204" charset="0"/>
              </a:rPr>
              <a:t>Cox Proportional Hazard Model</a:t>
            </a:r>
            <a:r>
              <a:rPr lang="en-US" sz="3200" dirty="0">
                <a:latin typeface="Maven Pro" panose="020B0604020202020204" charset="0"/>
              </a:rPr>
              <a:t>: </a:t>
            </a:r>
          </a:p>
          <a:p>
            <a:pPr algn="just"/>
            <a:r>
              <a:rPr lang="en-US" sz="3200" dirty="0">
                <a:latin typeface="Maven Pro" panose="020B0604020202020204" charset="0"/>
              </a:rPr>
              <a:t>A statistical method that examines the effect of multiple variables on the time to an event (e.g., customer churn). It calculates hazard ratios for predictors.</a:t>
            </a:r>
            <a:endParaRPr lang="en-US" sz="3000" dirty="0">
              <a:latin typeface="Maven Pro" panose="020B0604020202020204" charset="0"/>
            </a:endParaRPr>
          </a:p>
        </p:txBody>
      </p:sp>
      <p:sp>
        <p:nvSpPr>
          <p:cNvPr id="3" name="TextBox 3">
            <a:extLst>
              <a:ext uri="{FF2B5EF4-FFF2-40B4-BE49-F238E27FC236}">
                <a16:creationId xmlns:a16="http://schemas.microsoft.com/office/drawing/2014/main" id="{3DA23AE0-3941-EAFF-43AE-0D950AB164D4}"/>
              </a:ext>
            </a:extLst>
          </p:cNvPr>
          <p:cNvSpPr txBox="1"/>
          <p:nvPr/>
        </p:nvSpPr>
        <p:spPr>
          <a:xfrm>
            <a:off x="1905000" y="1205570"/>
            <a:ext cx="13944600" cy="1592359"/>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Literature Survey-1</a:t>
            </a:r>
          </a:p>
          <a:p>
            <a:pPr algn="ctr">
              <a:lnSpc>
                <a:spcPts val="6400"/>
              </a:lnSpc>
            </a:pPr>
            <a:r>
              <a:rPr lang="en-US" sz="4800" b="1" u="sng" dirty="0">
                <a:latin typeface="Maven Pro" panose="020B0604020202020204" charset="0"/>
              </a:rPr>
              <a:t>Applying Survival Analysis</a:t>
            </a:r>
            <a:r>
              <a:rPr lang="en-US" sz="4800" b="1" u="sng" dirty="0"/>
              <a:t> </a:t>
            </a:r>
            <a:r>
              <a:rPr lang="en-US" sz="4800" b="1" u="sng" dirty="0">
                <a:latin typeface="Maven Pro" panose="020B0604020202020204" charset="0"/>
              </a:rPr>
              <a:t>to Telecom Churn Data </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4" name="TextBox 4">
            <a:extLst>
              <a:ext uri="{FF2B5EF4-FFF2-40B4-BE49-F238E27FC236}">
                <a16:creationId xmlns:a16="http://schemas.microsoft.com/office/drawing/2014/main" id="{E1DE6115-ACCA-AFDC-B174-960422435DB0}"/>
              </a:ext>
            </a:extLst>
          </p:cNvPr>
          <p:cNvSpPr txBox="1"/>
          <p:nvPr/>
        </p:nvSpPr>
        <p:spPr>
          <a:xfrm>
            <a:off x="8572500" y="3172120"/>
            <a:ext cx="8724900" cy="5909310"/>
          </a:xfrm>
          <a:prstGeom prst="rect">
            <a:avLst/>
          </a:prstGeom>
        </p:spPr>
        <p:txBody>
          <a:bodyPr wrap="square" lIns="0" tIns="0" rIns="0" bIns="0" rtlCol="0" anchor="t">
            <a:spAutoFit/>
          </a:bodyPr>
          <a:lstStyle/>
          <a:p>
            <a:pPr algn="just"/>
            <a:r>
              <a:rPr lang="en-US" sz="3200" b="1" dirty="0">
                <a:latin typeface="Maven Pro" panose="020B0604020202020204" charset="0"/>
              </a:rPr>
              <a:t>Key Findings</a:t>
            </a:r>
          </a:p>
          <a:p>
            <a:pPr algn="just"/>
            <a:endParaRPr lang="en-US" sz="3200" b="1" dirty="0">
              <a:latin typeface="Maven Pro" panose="020B0604020202020204" charset="0"/>
            </a:endParaRPr>
          </a:p>
          <a:p>
            <a:pPr algn="just"/>
            <a:r>
              <a:rPr lang="en-US" sz="3200" dirty="0">
                <a:latin typeface="Maven Pro" panose="020B0604020202020204" charset="0"/>
              </a:rPr>
              <a:t>Cox Proportional Hazard Model was applied to predict customer churn using various predictors like campaign effectiveness, tariff plans, tenure, and age.</a:t>
            </a:r>
          </a:p>
          <a:p>
            <a:pPr algn="just"/>
            <a:endParaRPr lang="en-US" sz="3200" dirty="0">
              <a:latin typeface="Maven Pro" panose="020B0604020202020204" charset="0"/>
            </a:endParaRPr>
          </a:p>
          <a:p>
            <a:pPr algn="just"/>
            <a:r>
              <a:rPr lang="en-US" sz="3200" dirty="0">
                <a:latin typeface="Maven Pro" panose="020B0604020202020204" charset="0"/>
              </a:rPr>
              <a:t>Tenure and auto-payment positively impact customer retention.</a:t>
            </a:r>
          </a:p>
          <a:p>
            <a:pPr algn="just"/>
            <a:endParaRPr lang="en-US" sz="3200" dirty="0">
              <a:latin typeface="Maven Pro" panose="020B0604020202020204" charset="0"/>
            </a:endParaRPr>
          </a:p>
          <a:p>
            <a:pPr algn="just"/>
            <a:r>
              <a:rPr lang="en-US" sz="3200" dirty="0">
                <a:latin typeface="Maven Pro" panose="020B0604020202020204" charset="0"/>
              </a:rPr>
              <a:t>Customers with shorter tenure and no auto-payment have higher churn probabilities.</a:t>
            </a:r>
          </a:p>
        </p:txBody>
      </p:sp>
      <p:sp>
        <p:nvSpPr>
          <p:cNvPr id="5" name="Freeform 5">
            <a:extLst>
              <a:ext uri="{FF2B5EF4-FFF2-40B4-BE49-F238E27FC236}">
                <a16:creationId xmlns:a16="http://schemas.microsoft.com/office/drawing/2014/main" id="{112928C7-6BE7-5773-5013-7385B6BEF6D5}"/>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1BBF3A20-517D-9BB5-E4F9-E7B4DCFBC6A0}"/>
              </a:ext>
            </a:extLst>
          </p:cNvPr>
          <p:cNvSpPr/>
          <p:nvPr/>
        </p:nvSpPr>
        <p:spPr>
          <a:xfrm>
            <a:off x="990600" y="8928841"/>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Freeform 7">
            <a:extLst>
              <a:ext uri="{FF2B5EF4-FFF2-40B4-BE49-F238E27FC236}">
                <a16:creationId xmlns:a16="http://schemas.microsoft.com/office/drawing/2014/main" id="{C69A5083-5923-ECFE-B6B4-46049EB22FD8}"/>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4052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E20012AA-739F-FA87-2FEB-384D22639A2C}"/>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0C080AC8-A099-E5C4-B28D-0AF687B26210}"/>
              </a:ext>
            </a:extLst>
          </p:cNvPr>
          <p:cNvSpPr/>
          <p:nvPr/>
        </p:nvSpPr>
        <p:spPr>
          <a:xfrm>
            <a:off x="14415241" y="9151497"/>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434C4081-619C-F4A1-3513-9EDF64850DFD}"/>
              </a:ext>
            </a:extLst>
          </p:cNvPr>
          <p:cNvSpPr txBox="1"/>
          <p:nvPr/>
        </p:nvSpPr>
        <p:spPr>
          <a:xfrm>
            <a:off x="1676400" y="3238500"/>
            <a:ext cx="15178056" cy="5909310"/>
          </a:xfrm>
          <a:prstGeom prst="rect">
            <a:avLst/>
          </a:prstGeom>
        </p:spPr>
        <p:txBody>
          <a:bodyPr wrap="square" lIns="0" tIns="0" rIns="0" bIns="0" rtlCol="0" anchor="t">
            <a:spAutoFit/>
          </a:bodyPr>
          <a:lstStyle/>
          <a:p>
            <a:pPr algn="just"/>
            <a:r>
              <a:rPr lang="en-US" sz="3200" b="1" dirty="0">
                <a:latin typeface="Maven Pro" panose="020B0604020202020204" charset="0"/>
              </a:rPr>
              <a:t>Model</a:t>
            </a:r>
            <a:r>
              <a:rPr lang="en-US" sz="3200" dirty="0">
                <a:latin typeface="Maven Pro" panose="020B0604020202020204" charset="0"/>
              </a:rPr>
              <a:t>: </a:t>
            </a:r>
            <a:r>
              <a:rPr lang="en-US" sz="3200" b="1" dirty="0">
                <a:latin typeface="Maven Pro" panose="020B0604020202020204" charset="0"/>
              </a:rPr>
              <a:t>Cox Proportional Hazard Model</a:t>
            </a:r>
          </a:p>
          <a:p>
            <a:pPr algn="just"/>
            <a:endParaRPr lang="en-US" sz="3200" b="1" dirty="0">
              <a:latin typeface="Maven Pro" panose="020B0604020202020204" charset="0"/>
            </a:endParaRPr>
          </a:p>
          <a:p>
            <a:pPr algn="just"/>
            <a:r>
              <a:rPr lang="en-US" sz="3200" dirty="0">
                <a:latin typeface="Maven Pro" panose="020B0604020202020204" charset="0"/>
              </a:rPr>
              <a:t>A statistical method used to examine the effect of multiple variables on the time until an event (customer churn) occurs.</a:t>
            </a:r>
          </a:p>
          <a:p>
            <a:pPr algn="just"/>
            <a:r>
              <a:rPr lang="en-US" sz="3200" dirty="0">
                <a:latin typeface="Maven Pro" panose="020B0604020202020204" charset="0"/>
              </a:rPr>
              <a:t>Focuses on survival and hazard functions to identify high-risk customers.</a:t>
            </a:r>
          </a:p>
          <a:p>
            <a:pPr algn="just"/>
            <a:endParaRPr lang="en-US" sz="3200" dirty="0">
              <a:latin typeface="Maven Pro" panose="020B0604020202020204" charset="0"/>
            </a:endParaRPr>
          </a:p>
          <a:p>
            <a:pPr algn="just"/>
            <a:r>
              <a:rPr lang="en-US" sz="3200" b="1" dirty="0">
                <a:latin typeface="Maven Pro" panose="020B0604020202020204" charset="0"/>
              </a:rPr>
              <a:t>Merits</a:t>
            </a:r>
          </a:p>
          <a:p>
            <a:pPr algn="just"/>
            <a:r>
              <a:rPr lang="en-US" sz="3200" dirty="0">
                <a:latin typeface="Maven Pro" panose="020B0604020202020204" charset="0"/>
              </a:rPr>
              <a:t>Accurate prediction of churn probabilities over time using survival analysis.</a:t>
            </a:r>
          </a:p>
          <a:p>
            <a:pPr algn="just"/>
            <a:r>
              <a:rPr lang="en-US" sz="3200" dirty="0">
                <a:latin typeface="Maven Pro" panose="020B0604020202020204" charset="0"/>
              </a:rPr>
              <a:t>Identifies key factors influencing customer churn (e.g., tenure, auto-payment).</a:t>
            </a:r>
          </a:p>
          <a:p>
            <a:pPr algn="just"/>
            <a:endParaRPr lang="en-US" sz="3200" dirty="0">
              <a:latin typeface="Maven Pro" panose="020B0604020202020204" charset="0"/>
            </a:endParaRPr>
          </a:p>
          <a:p>
            <a:pPr algn="just"/>
            <a:r>
              <a:rPr lang="en-US" sz="3200" b="1" dirty="0">
                <a:latin typeface="Maven Pro" panose="020B0604020202020204" charset="0"/>
              </a:rPr>
              <a:t>Demerits</a:t>
            </a:r>
            <a:endParaRPr lang="en-US" sz="3200" dirty="0">
              <a:latin typeface="Maven Pro" panose="020B0604020202020204" charset="0"/>
            </a:endParaRPr>
          </a:p>
          <a:p>
            <a:pPr algn="just"/>
            <a:r>
              <a:rPr lang="en-IN" sz="3200" dirty="0">
                <a:latin typeface="Maven Pro" panose="020B0604020202020204" charset="0"/>
                <a:cs typeface="Times New Roman" panose="02020603050405020304" pitchFamily="18" charset="0"/>
              </a:rPr>
              <a:t>Considered the survival chances of consumers.</a:t>
            </a:r>
            <a:endParaRPr lang="en-US" sz="3200" dirty="0">
              <a:latin typeface="Maven Pro" panose="020B0604020202020204" charset="0"/>
              <a:cs typeface="Times New Roman" panose="02020603050405020304" pitchFamily="18" charset="0"/>
            </a:endParaRPr>
          </a:p>
        </p:txBody>
      </p:sp>
      <p:sp>
        <p:nvSpPr>
          <p:cNvPr id="3" name="TextBox 3">
            <a:extLst>
              <a:ext uri="{FF2B5EF4-FFF2-40B4-BE49-F238E27FC236}">
                <a16:creationId xmlns:a16="http://schemas.microsoft.com/office/drawing/2014/main" id="{46C2AA5A-B6BA-4237-D4F4-740CFA339DA8}"/>
              </a:ext>
            </a:extLst>
          </p:cNvPr>
          <p:cNvSpPr txBox="1"/>
          <p:nvPr/>
        </p:nvSpPr>
        <p:spPr>
          <a:xfrm>
            <a:off x="1828800" y="1896548"/>
            <a:ext cx="13944600" cy="771621"/>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Applying Survival Analysis</a:t>
            </a:r>
            <a:r>
              <a:rPr lang="en-US" sz="4800" b="1" u="sng" dirty="0"/>
              <a:t> </a:t>
            </a:r>
            <a:r>
              <a:rPr lang="en-US" sz="4800" b="1" u="sng" dirty="0">
                <a:latin typeface="Maven Pro" panose="020B0604020202020204" charset="0"/>
              </a:rPr>
              <a:t>to Telecom Churn Data </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5" name="Freeform 5">
            <a:extLst>
              <a:ext uri="{FF2B5EF4-FFF2-40B4-BE49-F238E27FC236}">
                <a16:creationId xmlns:a16="http://schemas.microsoft.com/office/drawing/2014/main" id="{FCB5C008-12A7-3F2E-A22E-697ECD0BCADF}"/>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98A0C8E9-805B-33B7-3600-8610DD024223}"/>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247468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EB88802C-3039-7E1C-E57A-F93BC000C737}"/>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19F879C1-A1A0-A150-D731-C16330A3610C}"/>
              </a:ext>
            </a:extLst>
          </p:cNvPr>
          <p:cNvSpPr/>
          <p:nvPr/>
        </p:nvSpPr>
        <p:spPr>
          <a:xfrm>
            <a:off x="14630400" y="9084766"/>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3C4D177A-8B6A-83ED-7176-D144C156D25C}"/>
              </a:ext>
            </a:extLst>
          </p:cNvPr>
          <p:cNvSpPr txBox="1"/>
          <p:nvPr/>
        </p:nvSpPr>
        <p:spPr>
          <a:xfrm>
            <a:off x="1061969" y="3390900"/>
            <a:ext cx="7067106" cy="5693866"/>
          </a:xfrm>
          <a:prstGeom prst="rect">
            <a:avLst/>
          </a:prstGeom>
        </p:spPr>
        <p:txBody>
          <a:bodyPr wrap="square" lIns="0" tIns="0" rIns="0" bIns="0" rtlCol="0" anchor="t">
            <a:spAutoFit/>
          </a:bodyPr>
          <a:lstStyle/>
          <a:p>
            <a:pPr algn="just"/>
            <a:r>
              <a:rPr lang="en-US" sz="3200" b="1" dirty="0">
                <a:latin typeface="Maven Pro" panose="020B0604020202020204" charset="0"/>
              </a:rPr>
              <a:t>Algorithms</a:t>
            </a:r>
            <a:endParaRPr lang="en-US" sz="3200" dirty="0">
              <a:latin typeface="Maven Pro" panose="020B0604020202020204" charset="0"/>
            </a:endParaRPr>
          </a:p>
          <a:p>
            <a:pPr algn="just"/>
            <a:endParaRPr lang="en-US" sz="3200" dirty="0">
              <a:latin typeface="Maven Pro" panose="020B0604020202020204" charset="0"/>
            </a:endParaRPr>
          </a:p>
          <a:p>
            <a:pPr algn="just"/>
            <a:r>
              <a:rPr lang="en-US" sz="3200" b="1" dirty="0">
                <a:latin typeface="Maven Pro" panose="020B0604020202020204" charset="0"/>
              </a:rPr>
              <a:t>Decision Tree</a:t>
            </a:r>
            <a:r>
              <a:rPr lang="en-US" sz="3200" dirty="0">
                <a:latin typeface="Maven Pro" panose="020B0604020202020204" charset="0"/>
              </a:rPr>
              <a:t>: </a:t>
            </a:r>
            <a:r>
              <a:rPr lang="en-US" sz="3000" dirty="0">
                <a:latin typeface="Maven Pro" panose="020B0604020202020204" charset="0"/>
              </a:rPr>
              <a:t>A tree-like structure where nodes represent features, and branches represent decision outcomes, making it interpretable and easy to implement.</a:t>
            </a:r>
          </a:p>
          <a:p>
            <a:pPr algn="just"/>
            <a:endParaRPr lang="en-US" sz="3200" dirty="0">
              <a:latin typeface="Maven Pro" panose="020B0604020202020204" charset="0"/>
            </a:endParaRPr>
          </a:p>
          <a:p>
            <a:pPr algn="just"/>
            <a:r>
              <a:rPr lang="en-US" sz="3200" b="1" dirty="0">
                <a:latin typeface="Maven Pro" panose="020B0604020202020204" charset="0"/>
              </a:rPr>
              <a:t>Random Forest</a:t>
            </a:r>
            <a:r>
              <a:rPr lang="en-US" sz="3200" dirty="0">
                <a:latin typeface="Maven Pro" panose="020B0604020202020204" charset="0"/>
              </a:rPr>
              <a:t>: </a:t>
            </a:r>
            <a:r>
              <a:rPr lang="en-US" sz="3000" dirty="0">
                <a:latin typeface="Maven Pro" panose="020B0604020202020204" charset="0"/>
              </a:rPr>
              <a:t>An ensemble learning method using multiple decision trees and averaging their results to improve accuracy and reduce overfitting.</a:t>
            </a:r>
          </a:p>
        </p:txBody>
      </p:sp>
      <p:sp>
        <p:nvSpPr>
          <p:cNvPr id="3" name="TextBox 3">
            <a:extLst>
              <a:ext uri="{FF2B5EF4-FFF2-40B4-BE49-F238E27FC236}">
                <a16:creationId xmlns:a16="http://schemas.microsoft.com/office/drawing/2014/main" id="{3A9CA046-BA83-EEB9-7932-D2E5872CBD9C}"/>
              </a:ext>
            </a:extLst>
          </p:cNvPr>
          <p:cNvSpPr txBox="1"/>
          <p:nvPr/>
        </p:nvSpPr>
        <p:spPr>
          <a:xfrm>
            <a:off x="1752600" y="739049"/>
            <a:ext cx="13944600" cy="2389052"/>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Literature Survey-2</a:t>
            </a:r>
          </a:p>
          <a:p>
            <a:pPr algn="ctr">
              <a:lnSpc>
                <a:spcPts val="6400"/>
              </a:lnSpc>
            </a:pPr>
            <a:r>
              <a:rPr lang="en-US" sz="4800" b="1" u="sng" dirty="0">
                <a:latin typeface="Maven Pro" panose="020B0604020202020204" charset="0"/>
              </a:rPr>
              <a:t> Customer Churn Prediction in Telecom Sector Using Machine Learning Techniques</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4" name="TextBox 4">
            <a:extLst>
              <a:ext uri="{FF2B5EF4-FFF2-40B4-BE49-F238E27FC236}">
                <a16:creationId xmlns:a16="http://schemas.microsoft.com/office/drawing/2014/main" id="{98A67637-7100-CBBA-8391-DC0F25D42B53}"/>
              </a:ext>
            </a:extLst>
          </p:cNvPr>
          <p:cNvSpPr txBox="1"/>
          <p:nvPr/>
        </p:nvSpPr>
        <p:spPr>
          <a:xfrm>
            <a:off x="8524742" y="3390900"/>
            <a:ext cx="8724900" cy="5601533"/>
          </a:xfrm>
          <a:prstGeom prst="rect">
            <a:avLst/>
          </a:prstGeom>
        </p:spPr>
        <p:txBody>
          <a:bodyPr wrap="square" lIns="0" tIns="0" rIns="0" bIns="0" rtlCol="0" anchor="t">
            <a:spAutoFit/>
          </a:bodyPr>
          <a:lstStyle/>
          <a:p>
            <a:pPr algn="just"/>
            <a:r>
              <a:rPr lang="en-US" sz="3200" b="1" dirty="0">
                <a:latin typeface="Maven Pro" panose="020B0604020202020204" charset="0"/>
              </a:rPr>
              <a:t>Key Findings</a:t>
            </a:r>
          </a:p>
          <a:p>
            <a:pPr algn="just"/>
            <a:endParaRPr lang="en-US" sz="3200" b="1" dirty="0">
              <a:latin typeface="Maven Pro" panose="020B0604020202020204" charset="0"/>
            </a:endParaRPr>
          </a:p>
          <a:p>
            <a:pPr algn="just"/>
            <a:r>
              <a:rPr lang="en-US" sz="3000" dirty="0">
                <a:latin typeface="Maven Pro" panose="020B0604020202020204" charset="0"/>
              </a:rPr>
              <a:t>Accuracy: Achieved a prediction accuracy of 99% using the Random Forest classifier.</a:t>
            </a:r>
          </a:p>
          <a:p>
            <a:pPr algn="just"/>
            <a:endParaRPr lang="en-US" sz="3000" dirty="0">
              <a:latin typeface="Maven Pro" panose="020B0604020202020204" charset="0"/>
            </a:endParaRPr>
          </a:p>
          <a:p>
            <a:pPr algn="just"/>
            <a:r>
              <a:rPr lang="en-US" sz="3000" dirty="0">
                <a:latin typeface="Maven Pro" panose="020B0604020202020204" charset="0"/>
              </a:rPr>
              <a:t>Precision and Recall: The classifier matrix showed 99% precision and recall, with an overall accuracy of 99.09%.</a:t>
            </a:r>
          </a:p>
          <a:p>
            <a:pPr algn="just"/>
            <a:endParaRPr lang="en-US" sz="3000" dirty="0">
              <a:latin typeface="Maven Pro" panose="020B0604020202020204" charset="0"/>
            </a:endParaRPr>
          </a:p>
          <a:p>
            <a:pPr algn="just"/>
            <a:r>
              <a:rPr lang="en-US" sz="3000" dirty="0">
                <a:latin typeface="Maven Pro" panose="020B0604020202020204" charset="0"/>
              </a:rPr>
              <a:t>Provided an efficient business model for churn prediction to enable proactive actions by identifying churners early.</a:t>
            </a:r>
          </a:p>
        </p:txBody>
      </p:sp>
      <p:sp>
        <p:nvSpPr>
          <p:cNvPr id="5" name="Freeform 5">
            <a:extLst>
              <a:ext uri="{FF2B5EF4-FFF2-40B4-BE49-F238E27FC236}">
                <a16:creationId xmlns:a16="http://schemas.microsoft.com/office/drawing/2014/main" id="{B20F656C-8F18-9E5F-0874-3FCE7D4E60BD}"/>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C9237F9E-3313-2543-1B74-905709E0DEEA}"/>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405691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7280F329-4990-E415-6835-B600511F0B1F}"/>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7CCAED31-310D-3FB0-23DC-346BD830723D}"/>
              </a:ext>
            </a:extLst>
          </p:cNvPr>
          <p:cNvSpPr/>
          <p:nvPr/>
        </p:nvSpPr>
        <p:spPr>
          <a:xfrm>
            <a:off x="14706600" y="8986684"/>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A8251E65-C59F-B8DB-9F12-AB626E1A2857}"/>
              </a:ext>
            </a:extLst>
          </p:cNvPr>
          <p:cNvSpPr txBox="1"/>
          <p:nvPr/>
        </p:nvSpPr>
        <p:spPr>
          <a:xfrm>
            <a:off x="1219200" y="2901814"/>
            <a:ext cx="15635256" cy="5909310"/>
          </a:xfrm>
          <a:prstGeom prst="rect">
            <a:avLst/>
          </a:prstGeom>
        </p:spPr>
        <p:txBody>
          <a:bodyPr wrap="square" lIns="0" tIns="0" rIns="0" bIns="0" rtlCol="0" anchor="t">
            <a:spAutoFit/>
          </a:bodyPr>
          <a:lstStyle/>
          <a:p>
            <a:pPr algn="just"/>
            <a:r>
              <a:rPr lang="en-IN" sz="3200" b="1" dirty="0">
                <a:latin typeface="Maven Pro" panose="020B0604020202020204" charset="0"/>
              </a:rPr>
              <a:t>Model: Random Forest Classifier</a:t>
            </a:r>
          </a:p>
          <a:p>
            <a:pPr algn="just"/>
            <a:endParaRPr lang="en-IN" sz="3200" b="1" dirty="0">
              <a:latin typeface="Maven Pro" panose="020B0604020202020204" charset="0"/>
            </a:endParaRPr>
          </a:p>
          <a:p>
            <a:pPr algn="just"/>
            <a:r>
              <a:rPr lang="en-US" sz="3200" dirty="0">
                <a:latin typeface="Maven Pro" panose="020B0604020202020204" charset="0"/>
              </a:rPr>
              <a:t>An ensemble learning model that builds multiple decision trees and combines their outputs for improved accuracy and reduced overfitting.</a:t>
            </a:r>
          </a:p>
          <a:p>
            <a:pPr algn="just"/>
            <a:endParaRPr lang="en-US" sz="3200" dirty="0">
              <a:latin typeface="Maven Pro" panose="020B0604020202020204" charset="0"/>
            </a:endParaRPr>
          </a:p>
          <a:p>
            <a:pPr algn="just"/>
            <a:r>
              <a:rPr lang="en-US" sz="3200" b="1" dirty="0">
                <a:latin typeface="Maven Pro" panose="020B0604020202020204" charset="0"/>
              </a:rPr>
              <a:t>Merits</a:t>
            </a:r>
          </a:p>
          <a:p>
            <a:pPr algn="just"/>
            <a:r>
              <a:rPr lang="en-US" sz="3200" dirty="0">
                <a:latin typeface="Maven Pro" panose="020B0604020202020204" charset="0"/>
              </a:rPr>
              <a:t>High accuracy (99.09% using Random Forest).</a:t>
            </a:r>
          </a:p>
          <a:p>
            <a:pPr algn="just"/>
            <a:r>
              <a:rPr lang="en-IN" sz="3200" dirty="0">
                <a:latin typeface="Maven Pro" panose="020B0604020202020204" charset="0"/>
              </a:rPr>
              <a:t>Easy implementation and scalability.</a:t>
            </a:r>
          </a:p>
          <a:p>
            <a:pPr algn="just"/>
            <a:endParaRPr lang="en-US" sz="3200" dirty="0">
              <a:latin typeface="Maven Pro" panose="020B0604020202020204" charset="0"/>
            </a:endParaRPr>
          </a:p>
          <a:p>
            <a:pPr algn="just"/>
            <a:r>
              <a:rPr lang="en-US" sz="3200" b="1" dirty="0">
                <a:latin typeface="Maven Pro" panose="020B0604020202020204" charset="0"/>
              </a:rPr>
              <a:t>Demerits</a:t>
            </a:r>
            <a:endParaRPr lang="en-US" sz="3200" dirty="0">
              <a:latin typeface="Maven Pro" panose="020B0604020202020204" charset="0"/>
            </a:endParaRPr>
          </a:p>
          <a:p>
            <a:pPr algn="just"/>
            <a:r>
              <a:rPr lang="en-US" sz="3200" dirty="0">
                <a:latin typeface="Maven Pro" panose="020B0604020202020204" charset="0"/>
              </a:rPr>
              <a:t>May overfit on small datasets.</a:t>
            </a:r>
          </a:p>
          <a:p>
            <a:pPr algn="just"/>
            <a:r>
              <a:rPr lang="en-US" sz="3200" dirty="0">
                <a:latin typeface="Maven Pro" panose="020B0604020202020204" charset="0"/>
              </a:rPr>
              <a:t>Requires balanced datasets for optimal results.</a:t>
            </a:r>
            <a:endParaRPr lang="en-US" sz="3200" dirty="0">
              <a:latin typeface="Maven Pro" panose="020B0604020202020204" charset="0"/>
              <a:cs typeface="Times New Roman" panose="02020603050405020304" pitchFamily="18" charset="0"/>
            </a:endParaRPr>
          </a:p>
        </p:txBody>
      </p:sp>
      <p:sp>
        <p:nvSpPr>
          <p:cNvPr id="3" name="TextBox 3">
            <a:extLst>
              <a:ext uri="{FF2B5EF4-FFF2-40B4-BE49-F238E27FC236}">
                <a16:creationId xmlns:a16="http://schemas.microsoft.com/office/drawing/2014/main" id="{30345AF5-4399-6964-3164-9FDA71ADA1BC}"/>
              </a:ext>
            </a:extLst>
          </p:cNvPr>
          <p:cNvSpPr txBox="1"/>
          <p:nvPr/>
        </p:nvSpPr>
        <p:spPr>
          <a:xfrm>
            <a:off x="1828800" y="1333500"/>
            <a:ext cx="13944600" cy="1568314"/>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Customer Churn Prediction in Telecom Sector Using Machine Learning Techniques</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5" name="Freeform 5">
            <a:extLst>
              <a:ext uri="{FF2B5EF4-FFF2-40B4-BE49-F238E27FC236}">
                <a16:creationId xmlns:a16="http://schemas.microsoft.com/office/drawing/2014/main" id="{026F539B-2F08-4880-C8E2-EB2F21C8D740}"/>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9BC9C277-0820-F7FD-3880-AB711F43C2A5}"/>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3156578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BBA01F1E-26F7-9EE9-DF1A-9742E1715690}"/>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A2EF36BA-FBE1-2CC6-F993-4CB5FB122BB5}"/>
              </a:ext>
            </a:extLst>
          </p:cNvPr>
          <p:cNvSpPr/>
          <p:nvPr/>
        </p:nvSpPr>
        <p:spPr>
          <a:xfrm>
            <a:off x="14706600" y="8992433"/>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73F63A70-6DB2-EBAB-1FCA-2BC80029F7E2}"/>
              </a:ext>
            </a:extLst>
          </p:cNvPr>
          <p:cNvSpPr txBox="1"/>
          <p:nvPr/>
        </p:nvSpPr>
        <p:spPr>
          <a:xfrm>
            <a:off x="1061969" y="3390900"/>
            <a:ext cx="7067106" cy="5816977"/>
          </a:xfrm>
          <a:prstGeom prst="rect">
            <a:avLst/>
          </a:prstGeom>
        </p:spPr>
        <p:txBody>
          <a:bodyPr wrap="square" lIns="0" tIns="0" rIns="0" bIns="0" rtlCol="0" anchor="t">
            <a:spAutoFit/>
          </a:bodyPr>
          <a:lstStyle/>
          <a:p>
            <a:pPr algn="just"/>
            <a:endParaRPr lang="en-US" sz="3200" dirty="0">
              <a:latin typeface="Maven Pro" panose="020B0604020202020204" charset="0"/>
            </a:endParaRPr>
          </a:p>
          <a:p>
            <a:pPr algn="just"/>
            <a:r>
              <a:rPr lang="en-US" sz="3200" b="1" dirty="0">
                <a:latin typeface="Maven Pro" panose="020B0604020202020204" charset="0"/>
              </a:rPr>
              <a:t>Algorithms</a:t>
            </a:r>
            <a:endParaRPr lang="en-US" sz="3200" dirty="0">
              <a:latin typeface="Maven Pro" panose="020B0604020202020204" charset="0"/>
            </a:endParaRPr>
          </a:p>
          <a:p>
            <a:pPr algn="just"/>
            <a:r>
              <a:rPr lang="en-US" sz="3200" b="1" dirty="0">
                <a:latin typeface="Maven Pro" panose="020B0604020202020204" charset="0"/>
              </a:rPr>
              <a:t>XGBoost</a:t>
            </a:r>
            <a:r>
              <a:rPr lang="en-US" sz="3200" dirty="0">
                <a:latin typeface="Maven Pro" panose="020B0604020202020204" charset="0"/>
              </a:rPr>
              <a:t>: </a:t>
            </a:r>
            <a:r>
              <a:rPr lang="en-US" sz="3000" dirty="0">
                <a:latin typeface="Maven Pro" panose="020B0604020202020204" charset="0"/>
              </a:rPr>
              <a:t>An advanced gradient boosting algorithm that uses decision trees. It is efficient, handles missing values, and offers high predictive performance.</a:t>
            </a:r>
          </a:p>
          <a:p>
            <a:pPr algn="just"/>
            <a:endParaRPr lang="en-US" sz="3200" dirty="0">
              <a:latin typeface="Maven Pro" panose="020B0604020202020204" charset="0"/>
            </a:endParaRPr>
          </a:p>
          <a:p>
            <a:pPr algn="just"/>
            <a:r>
              <a:rPr lang="en-US" sz="3200" b="1" dirty="0">
                <a:latin typeface="Maven Pro" panose="020B0604020202020204" charset="0"/>
              </a:rPr>
              <a:t>Gradient Boosted Machines (GBM)</a:t>
            </a:r>
            <a:r>
              <a:rPr lang="en-US" sz="3200" dirty="0">
                <a:latin typeface="Maven Pro" panose="020B0604020202020204" charset="0"/>
              </a:rPr>
              <a:t>: </a:t>
            </a:r>
            <a:r>
              <a:rPr lang="en-US" sz="3000" dirty="0">
                <a:latin typeface="Maven Pro" panose="020B0604020202020204" charset="0"/>
              </a:rPr>
              <a:t>A machine learning technique that builds models sequentially, where each model corrects errors from the previous one.</a:t>
            </a:r>
          </a:p>
        </p:txBody>
      </p:sp>
      <p:sp>
        <p:nvSpPr>
          <p:cNvPr id="3" name="TextBox 3">
            <a:extLst>
              <a:ext uri="{FF2B5EF4-FFF2-40B4-BE49-F238E27FC236}">
                <a16:creationId xmlns:a16="http://schemas.microsoft.com/office/drawing/2014/main" id="{EC197887-12E8-F477-349B-DD10E838C444}"/>
              </a:ext>
            </a:extLst>
          </p:cNvPr>
          <p:cNvSpPr txBox="1"/>
          <p:nvPr/>
        </p:nvSpPr>
        <p:spPr>
          <a:xfrm>
            <a:off x="1752600" y="739049"/>
            <a:ext cx="13944600" cy="2389052"/>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Literature Survey-3</a:t>
            </a:r>
          </a:p>
          <a:p>
            <a:pPr algn="ctr">
              <a:lnSpc>
                <a:spcPts val="6400"/>
              </a:lnSpc>
            </a:pPr>
            <a:r>
              <a:rPr lang="en-US" sz="4800" b="1" u="sng" dirty="0">
                <a:latin typeface="Maven Pro" panose="020B0604020202020204" charset="0"/>
              </a:rPr>
              <a:t>Customer Churn Prediction in Telecom Using Machine Learning in Big Data Platform</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4" name="TextBox 4">
            <a:extLst>
              <a:ext uri="{FF2B5EF4-FFF2-40B4-BE49-F238E27FC236}">
                <a16:creationId xmlns:a16="http://schemas.microsoft.com/office/drawing/2014/main" id="{52D94594-2DF4-0E11-050B-61A1AF9EF068}"/>
              </a:ext>
            </a:extLst>
          </p:cNvPr>
          <p:cNvSpPr txBox="1"/>
          <p:nvPr/>
        </p:nvSpPr>
        <p:spPr>
          <a:xfrm>
            <a:off x="8524742" y="3390900"/>
            <a:ext cx="8724900" cy="5601533"/>
          </a:xfrm>
          <a:prstGeom prst="rect">
            <a:avLst/>
          </a:prstGeom>
        </p:spPr>
        <p:txBody>
          <a:bodyPr wrap="square" lIns="0" tIns="0" rIns="0" bIns="0" rtlCol="0" anchor="t">
            <a:spAutoFit/>
          </a:bodyPr>
          <a:lstStyle/>
          <a:p>
            <a:pPr algn="just"/>
            <a:r>
              <a:rPr lang="en-US" sz="3200" b="1" dirty="0">
                <a:latin typeface="Maven Pro" panose="020B0604020202020204" charset="0"/>
              </a:rPr>
              <a:t>Key Findings</a:t>
            </a:r>
          </a:p>
          <a:p>
            <a:pPr algn="just"/>
            <a:endParaRPr lang="en-US" sz="3200" b="1" dirty="0">
              <a:latin typeface="Maven Pro" panose="020B0604020202020204" charset="0"/>
            </a:endParaRPr>
          </a:p>
          <a:p>
            <a:pPr algn="just"/>
            <a:r>
              <a:rPr lang="en-US" sz="3000" dirty="0">
                <a:latin typeface="Maven Pro" panose="020B0604020202020204" charset="0"/>
              </a:rPr>
              <a:t>Achieved an AUC of 93.3% using the XGBoost algorithm with Social Network Analysis (SNA) features.</a:t>
            </a:r>
          </a:p>
          <a:p>
            <a:pPr algn="just"/>
            <a:endParaRPr lang="en-US" sz="3000" dirty="0">
              <a:latin typeface="Maven Pro" panose="020B0604020202020204" charset="0"/>
            </a:endParaRPr>
          </a:p>
          <a:p>
            <a:pPr algn="just"/>
            <a:r>
              <a:rPr lang="en-US" sz="3000" dirty="0">
                <a:latin typeface="Maven Pro" panose="020B0604020202020204" charset="0"/>
              </a:rPr>
              <a:t>Improved model performance significantly (from 84% to 93.3% AUC).</a:t>
            </a:r>
          </a:p>
          <a:p>
            <a:pPr algn="just"/>
            <a:endParaRPr lang="en-US" sz="3000" dirty="0">
              <a:latin typeface="Maven Pro" panose="020B0604020202020204" charset="0"/>
            </a:endParaRPr>
          </a:p>
          <a:p>
            <a:pPr algn="just"/>
            <a:r>
              <a:rPr lang="en-US" sz="3000" dirty="0">
                <a:latin typeface="Maven Pro" panose="020B0604020202020204" charset="0"/>
              </a:rPr>
              <a:t>XGBoost outperformed Gradient Boost Machines, Random Forest, and Decision Trees in terms of prediction accuracy and scalability.</a:t>
            </a:r>
          </a:p>
        </p:txBody>
      </p:sp>
      <p:sp>
        <p:nvSpPr>
          <p:cNvPr id="5" name="Freeform 5">
            <a:extLst>
              <a:ext uri="{FF2B5EF4-FFF2-40B4-BE49-F238E27FC236}">
                <a16:creationId xmlns:a16="http://schemas.microsoft.com/office/drawing/2014/main" id="{5786F5F0-FF0E-52F6-C544-05EDD39B1458}"/>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04A1F57E-95B0-07F0-A674-E270D4689F56}"/>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122633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3D1B0442-890B-847A-55F8-13AD50E24DAF}"/>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CA09D3E8-9A3E-2E37-A0E0-C52E9419A8AE}"/>
              </a:ext>
            </a:extLst>
          </p:cNvPr>
          <p:cNvSpPr/>
          <p:nvPr/>
        </p:nvSpPr>
        <p:spPr>
          <a:xfrm>
            <a:off x="14630400" y="9147810"/>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0BE5A1A3-E75B-C771-A15F-D2A771DDE128}"/>
              </a:ext>
            </a:extLst>
          </p:cNvPr>
          <p:cNvSpPr txBox="1"/>
          <p:nvPr/>
        </p:nvSpPr>
        <p:spPr>
          <a:xfrm>
            <a:off x="1676400" y="3238500"/>
            <a:ext cx="15178056" cy="5909310"/>
          </a:xfrm>
          <a:prstGeom prst="rect">
            <a:avLst/>
          </a:prstGeom>
        </p:spPr>
        <p:txBody>
          <a:bodyPr wrap="square" lIns="0" tIns="0" rIns="0" bIns="0" rtlCol="0" anchor="t">
            <a:spAutoFit/>
          </a:bodyPr>
          <a:lstStyle/>
          <a:p>
            <a:pPr algn="just"/>
            <a:r>
              <a:rPr lang="en-IN" sz="3200" b="1" dirty="0">
                <a:latin typeface="Maven Pro" panose="020B0604020202020204" charset="0"/>
              </a:rPr>
              <a:t>Model: XGBoost (Extreme Gradient Boosting)</a:t>
            </a:r>
          </a:p>
          <a:p>
            <a:pPr algn="just"/>
            <a:endParaRPr lang="en-IN" sz="3200" b="1" dirty="0">
              <a:latin typeface="Maven Pro" panose="020B0604020202020204" charset="0"/>
            </a:endParaRPr>
          </a:p>
          <a:p>
            <a:pPr algn="just"/>
            <a:r>
              <a:rPr lang="en-US" sz="3200" dirty="0">
                <a:latin typeface="Maven Pro" panose="020B0604020202020204" charset="0"/>
              </a:rPr>
              <a:t>A gradient boosting framework optimized for speed and performance, which builds decision trees sequentially to minimize prediction errors.</a:t>
            </a:r>
          </a:p>
          <a:p>
            <a:pPr algn="just"/>
            <a:endParaRPr lang="en-US" sz="3200" dirty="0">
              <a:latin typeface="Maven Pro" panose="020B0604020202020204" charset="0"/>
            </a:endParaRPr>
          </a:p>
          <a:p>
            <a:pPr algn="just"/>
            <a:r>
              <a:rPr lang="en-US" sz="3200" b="1" dirty="0">
                <a:latin typeface="Maven Pro" panose="020B0604020202020204" charset="0"/>
              </a:rPr>
              <a:t>Merits</a:t>
            </a:r>
          </a:p>
          <a:p>
            <a:pPr algn="just"/>
            <a:r>
              <a:rPr lang="en-US" sz="3200" dirty="0">
                <a:latin typeface="Maven Pro" panose="020B0604020202020204" charset="0"/>
              </a:rPr>
              <a:t>High AUC score (93.3% using XGBoost).</a:t>
            </a:r>
          </a:p>
          <a:p>
            <a:pPr algn="just"/>
            <a:r>
              <a:rPr lang="en-US" sz="3200" dirty="0">
                <a:latin typeface="Maven Pro" panose="020B0604020202020204" charset="0"/>
              </a:rPr>
              <a:t>Scalable to large datasets (70TB).</a:t>
            </a:r>
          </a:p>
          <a:p>
            <a:pPr algn="just"/>
            <a:endParaRPr lang="en-US" sz="3200" dirty="0">
              <a:latin typeface="Maven Pro" panose="020B0604020202020204" charset="0"/>
            </a:endParaRPr>
          </a:p>
          <a:p>
            <a:pPr algn="just"/>
            <a:r>
              <a:rPr lang="en-US" sz="3200" b="1" dirty="0">
                <a:latin typeface="Maven Pro" panose="020B0604020202020204" charset="0"/>
              </a:rPr>
              <a:t>Demerits</a:t>
            </a:r>
            <a:endParaRPr lang="en-US" sz="3200" dirty="0">
              <a:latin typeface="Maven Pro" panose="020B0604020202020204" charset="0"/>
            </a:endParaRPr>
          </a:p>
          <a:p>
            <a:pPr algn="just"/>
            <a:r>
              <a:rPr lang="en-US" sz="3200" dirty="0">
                <a:latin typeface="Maven Pro" panose="020B0604020202020204" charset="0"/>
              </a:rPr>
              <a:t>High computational cost for SNA.</a:t>
            </a:r>
          </a:p>
          <a:p>
            <a:pPr algn="just"/>
            <a:r>
              <a:rPr lang="en-IN" sz="3200" dirty="0">
                <a:latin typeface="Maven Pro" panose="020B0604020202020204" charset="0"/>
              </a:rPr>
              <a:t>Complexity in feature engineering</a:t>
            </a:r>
            <a:r>
              <a:rPr lang="en-US" sz="3200" dirty="0">
                <a:latin typeface="Maven Pro" panose="020B0604020202020204" charset="0"/>
              </a:rPr>
              <a:t>.</a:t>
            </a:r>
            <a:endParaRPr lang="en-US" sz="3200" dirty="0">
              <a:latin typeface="Maven Pro" panose="020B0604020202020204" charset="0"/>
              <a:cs typeface="Times New Roman" panose="02020603050405020304" pitchFamily="18" charset="0"/>
            </a:endParaRPr>
          </a:p>
        </p:txBody>
      </p:sp>
      <p:sp>
        <p:nvSpPr>
          <p:cNvPr id="3" name="TextBox 3">
            <a:extLst>
              <a:ext uri="{FF2B5EF4-FFF2-40B4-BE49-F238E27FC236}">
                <a16:creationId xmlns:a16="http://schemas.microsoft.com/office/drawing/2014/main" id="{B514644E-67B6-8354-6FD6-F7A1615BB4B9}"/>
              </a:ext>
            </a:extLst>
          </p:cNvPr>
          <p:cNvSpPr txBox="1"/>
          <p:nvPr/>
        </p:nvSpPr>
        <p:spPr>
          <a:xfrm>
            <a:off x="1828800" y="1333500"/>
            <a:ext cx="13944600" cy="1568314"/>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Customer Churn Prediction in Telecom Using Machine Learning in Big Data Platform</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5" name="Freeform 5">
            <a:extLst>
              <a:ext uri="{FF2B5EF4-FFF2-40B4-BE49-F238E27FC236}">
                <a16:creationId xmlns:a16="http://schemas.microsoft.com/office/drawing/2014/main" id="{A2AA679D-8978-612D-E013-FD6CB28C4C9B}"/>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7306E500-3F21-B35F-19F8-F0670187AC8F}"/>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398965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218D674D-59CF-FB34-8219-B902F406CD02}"/>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F532DE1B-21A8-2127-B97D-4C1013055406}"/>
              </a:ext>
            </a:extLst>
          </p:cNvPr>
          <p:cNvSpPr/>
          <p:nvPr/>
        </p:nvSpPr>
        <p:spPr>
          <a:xfrm>
            <a:off x="14415241" y="8992433"/>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EBEA89B1-58A6-BBE3-E56B-F6BC81D1DA8F}"/>
              </a:ext>
            </a:extLst>
          </p:cNvPr>
          <p:cNvSpPr txBox="1"/>
          <p:nvPr/>
        </p:nvSpPr>
        <p:spPr>
          <a:xfrm>
            <a:off x="1038358" y="3390900"/>
            <a:ext cx="7090717" cy="5786199"/>
          </a:xfrm>
          <a:prstGeom prst="rect">
            <a:avLst/>
          </a:prstGeom>
        </p:spPr>
        <p:txBody>
          <a:bodyPr wrap="square" lIns="0" tIns="0" rIns="0" bIns="0" rtlCol="0" anchor="t">
            <a:spAutoFit/>
          </a:bodyPr>
          <a:lstStyle/>
          <a:p>
            <a:pPr algn="just"/>
            <a:r>
              <a:rPr lang="en-US" sz="3200" b="1" dirty="0">
                <a:latin typeface="Maven Pro" panose="020B0604020202020204" charset="0"/>
              </a:rPr>
              <a:t>Algorithms</a:t>
            </a:r>
            <a:endParaRPr lang="en-US" sz="3200" dirty="0">
              <a:latin typeface="Maven Pro" panose="020B0604020202020204" charset="0"/>
            </a:endParaRPr>
          </a:p>
          <a:p>
            <a:pPr algn="just"/>
            <a:endParaRPr lang="en-US" sz="3200" dirty="0">
              <a:latin typeface="Maven Pro" panose="020B0604020202020204" charset="0"/>
            </a:endParaRPr>
          </a:p>
          <a:p>
            <a:pPr algn="just"/>
            <a:r>
              <a:rPr lang="en-US" sz="3200" b="1" dirty="0">
                <a:latin typeface="Maven Pro" panose="020B0604020202020204" charset="0"/>
              </a:rPr>
              <a:t>Gravitational Search Algorithm (GSA)</a:t>
            </a:r>
            <a:r>
              <a:rPr lang="en-US" sz="3200" dirty="0">
                <a:latin typeface="Maven Pro" panose="020B0604020202020204" charset="0"/>
              </a:rPr>
              <a:t>: </a:t>
            </a:r>
            <a:r>
              <a:rPr lang="en-US" sz="3000" dirty="0">
                <a:latin typeface="Maven Pro" panose="020B0604020202020204" charset="0"/>
              </a:rPr>
              <a:t>An optimization technique inspired by Newtonian gravity that selects relevant features by simulating interactions between objects in a search space.</a:t>
            </a:r>
          </a:p>
          <a:p>
            <a:pPr algn="just"/>
            <a:endParaRPr lang="en-US" sz="3200" dirty="0">
              <a:latin typeface="Maven Pro" panose="020B0604020202020204" charset="0"/>
            </a:endParaRPr>
          </a:p>
          <a:p>
            <a:pPr algn="just"/>
            <a:r>
              <a:rPr lang="en-US" sz="3200" b="1" dirty="0">
                <a:latin typeface="Maven Pro" panose="020B0604020202020204" charset="0"/>
              </a:rPr>
              <a:t>Support Vector Machine (SVM)</a:t>
            </a:r>
            <a:r>
              <a:rPr lang="en-US" sz="3200" dirty="0">
                <a:latin typeface="Maven Pro" panose="020B0604020202020204" charset="0"/>
              </a:rPr>
              <a:t>: </a:t>
            </a:r>
          </a:p>
          <a:p>
            <a:pPr algn="just"/>
            <a:r>
              <a:rPr lang="en-US" sz="3000" dirty="0">
                <a:latin typeface="Maven Pro" panose="020B0604020202020204" charset="0"/>
              </a:rPr>
              <a:t>A supervised learning algorithm that finds the hyperplane that best separates classes.</a:t>
            </a:r>
          </a:p>
        </p:txBody>
      </p:sp>
      <p:sp>
        <p:nvSpPr>
          <p:cNvPr id="3" name="TextBox 3">
            <a:extLst>
              <a:ext uri="{FF2B5EF4-FFF2-40B4-BE49-F238E27FC236}">
                <a16:creationId xmlns:a16="http://schemas.microsoft.com/office/drawing/2014/main" id="{25D7FF13-E8D4-DFEB-532F-1278870E0645}"/>
              </a:ext>
            </a:extLst>
          </p:cNvPr>
          <p:cNvSpPr txBox="1"/>
          <p:nvPr/>
        </p:nvSpPr>
        <p:spPr>
          <a:xfrm>
            <a:off x="1552442" y="739049"/>
            <a:ext cx="13944600" cy="2389052"/>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Literature -4</a:t>
            </a:r>
          </a:p>
          <a:p>
            <a:pPr algn="ctr">
              <a:lnSpc>
                <a:spcPts val="6400"/>
              </a:lnSpc>
            </a:pPr>
            <a:r>
              <a:rPr lang="en-US" sz="4800" b="1" u="sng" dirty="0">
                <a:latin typeface="Maven Pro" panose="020B0604020202020204" charset="0"/>
              </a:rPr>
              <a:t>Customer Churn Prediction System: A Machine Learning Approach</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4" name="TextBox 4">
            <a:extLst>
              <a:ext uri="{FF2B5EF4-FFF2-40B4-BE49-F238E27FC236}">
                <a16:creationId xmlns:a16="http://schemas.microsoft.com/office/drawing/2014/main" id="{D8E5178C-7BBC-1A6E-FA0B-8E67C0AE5691}"/>
              </a:ext>
            </a:extLst>
          </p:cNvPr>
          <p:cNvSpPr txBox="1"/>
          <p:nvPr/>
        </p:nvSpPr>
        <p:spPr>
          <a:xfrm>
            <a:off x="8524742" y="3390900"/>
            <a:ext cx="8724900" cy="5601533"/>
          </a:xfrm>
          <a:prstGeom prst="rect">
            <a:avLst/>
          </a:prstGeom>
        </p:spPr>
        <p:txBody>
          <a:bodyPr wrap="square" lIns="0" tIns="0" rIns="0" bIns="0" rtlCol="0" anchor="t">
            <a:spAutoFit/>
          </a:bodyPr>
          <a:lstStyle/>
          <a:p>
            <a:pPr algn="just"/>
            <a:r>
              <a:rPr lang="en-US" sz="3200" b="1" dirty="0">
                <a:latin typeface="Maven Pro" panose="020B0604020202020204" charset="0"/>
              </a:rPr>
              <a:t>Key Findings</a:t>
            </a:r>
          </a:p>
          <a:p>
            <a:pPr algn="just"/>
            <a:endParaRPr lang="en-US" sz="3200" b="1" dirty="0">
              <a:latin typeface="Maven Pro" panose="020B0604020202020204" charset="0"/>
            </a:endParaRPr>
          </a:p>
          <a:p>
            <a:pPr algn="just"/>
            <a:r>
              <a:rPr lang="en-US" sz="3000" dirty="0">
                <a:latin typeface="Maven Pro" panose="020B0604020202020204" charset="0"/>
              </a:rPr>
              <a:t>AdaBoost and XGBoost classifiers achieved the highest accuracy of 81.71% and 80.8%.</a:t>
            </a:r>
          </a:p>
          <a:p>
            <a:pPr algn="just"/>
            <a:endParaRPr lang="en-US" sz="3000" dirty="0">
              <a:latin typeface="Maven Pro" panose="020B0604020202020204" charset="0"/>
            </a:endParaRPr>
          </a:p>
          <a:p>
            <a:pPr algn="just"/>
            <a:r>
              <a:rPr lang="en-US" sz="3000" dirty="0">
                <a:latin typeface="Maven Pro" panose="020B0604020202020204" charset="0"/>
              </a:rPr>
              <a:t>The Gravitational Search Algorithm (GSA) effectively reduced data dimensionality, improving overall performance.</a:t>
            </a:r>
          </a:p>
          <a:p>
            <a:pPr algn="just"/>
            <a:endParaRPr lang="en-US" sz="3000" dirty="0">
              <a:latin typeface="Maven Pro" panose="020B0604020202020204" charset="0"/>
            </a:endParaRPr>
          </a:p>
          <a:p>
            <a:pPr algn="just"/>
            <a:r>
              <a:rPr lang="en-US" sz="3000" dirty="0">
                <a:latin typeface="Maven Pro" panose="020B0604020202020204" charset="0"/>
              </a:rPr>
              <a:t>Demonstrated the value of ensemble learning and optimization techniques in improving prediction accuracy.</a:t>
            </a:r>
          </a:p>
        </p:txBody>
      </p:sp>
      <p:sp>
        <p:nvSpPr>
          <p:cNvPr id="5" name="Freeform 5">
            <a:extLst>
              <a:ext uri="{FF2B5EF4-FFF2-40B4-BE49-F238E27FC236}">
                <a16:creationId xmlns:a16="http://schemas.microsoft.com/office/drawing/2014/main" id="{8A369047-A343-EE8F-EEE6-D3F5DD14440F}"/>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8BE30DA0-8767-3D6A-40CF-8CDE6EA08CEF}"/>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035856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0629225F-3380-9D2E-661C-8990748D8240}"/>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B6B48285-DAB3-58E5-80E0-38F9D835810A}"/>
              </a:ext>
            </a:extLst>
          </p:cNvPr>
          <p:cNvSpPr/>
          <p:nvPr/>
        </p:nvSpPr>
        <p:spPr>
          <a:xfrm>
            <a:off x="14630400" y="8953500"/>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ECDEE7FA-677D-2CD0-1973-B4F49DC3B990}"/>
              </a:ext>
            </a:extLst>
          </p:cNvPr>
          <p:cNvSpPr txBox="1"/>
          <p:nvPr/>
        </p:nvSpPr>
        <p:spPr>
          <a:xfrm>
            <a:off x="1676400" y="3238500"/>
            <a:ext cx="15178056" cy="5909310"/>
          </a:xfrm>
          <a:prstGeom prst="rect">
            <a:avLst/>
          </a:prstGeom>
        </p:spPr>
        <p:txBody>
          <a:bodyPr wrap="square" lIns="0" tIns="0" rIns="0" bIns="0" rtlCol="0" anchor="t">
            <a:spAutoFit/>
          </a:bodyPr>
          <a:lstStyle/>
          <a:p>
            <a:pPr algn="just"/>
            <a:r>
              <a:rPr lang="en-US" sz="3200" b="1" dirty="0">
                <a:latin typeface="Maven Pro" panose="020B0604020202020204" charset="0"/>
              </a:rPr>
              <a:t>Model</a:t>
            </a:r>
            <a:r>
              <a:rPr lang="en-US" sz="3200" dirty="0">
                <a:latin typeface="Maven Pro" panose="020B0604020202020204" charset="0"/>
              </a:rPr>
              <a:t>: </a:t>
            </a:r>
            <a:r>
              <a:rPr lang="en-US" sz="3200" b="1" dirty="0">
                <a:latin typeface="Maven Pro" panose="020B0604020202020204" charset="0"/>
              </a:rPr>
              <a:t>AdaBoost and XGBoost Classifiers</a:t>
            </a:r>
          </a:p>
          <a:p>
            <a:pPr algn="just"/>
            <a:endParaRPr lang="en-IN" sz="3200" b="1" dirty="0">
              <a:latin typeface="Maven Pro" panose="020B0604020202020204" charset="0"/>
            </a:endParaRPr>
          </a:p>
          <a:p>
            <a:pPr algn="just"/>
            <a:r>
              <a:rPr lang="en-US" sz="3200" b="1" dirty="0">
                <a:latin typeface="Maven Pro" panose="020B0604020202020204" charset="0"/>
              </a:rPr>
              <a:t>AdaBoost</a:t>
            </a:r>
            <a:r>
              <a:rPr lang="en-US" sz="3200" dirty="0">
                <a:latin typeface="Maven Pro" panose="020B0604020202020204" charset="0"/>
              </a:rPr>
              <a:t>: Boosting model that combines weak classifiers iteratively.</a:t>
            </a:r>
          </a:p>
          <a:p>
            <a:pPr algn="just"/>
            <a:r>
              <a:rPr lang="en-US" sz="3200" b="1" dirty="0">
                <a:latin typeface="Maven Pro" panose="020B0604020202020204" charset="0"/>
              </a:rPr>
              <a:t>XGBoost</a:t>
            </a:r>
            <a:r>
              <a:rPr lang="en-US" sz="3200" dirty="0">
                <a:latin typeface="Maven Pro" panose="020B0604020202020204" charset="0"/>
              </a:rPr>
              <a:t>: Advanced gradient boosting algorithm focusing on efficiency.</a:t>
            </a:r>
          </a:p>
          <a:p>
            <a:pPr algn="just"/>
            <a:endParaRPr lang="en-US" sz="3200" dirty="0">
              <a:latin typeface="Maven Pro" panose="020B0604020202020204" charset="0"/>
            </a:endParaRPr>
          </a:p>
          <a:p>
            <a:pPr algn="just"/>
            <a:r>
              <a:rPr lang="en-US" sz="3200" b="1" dirty="0">
                <a:latin typeface="Maven Pro" panose="020B0604020202020204" charset="0"/>
              </a:rPr>
              <a:t>Merits</a:t>
            </a:r>
          </a:p>
          <a:p>
            <a:pPr algn="just"/>
            <a:r>
              <a:rPr lang="en-US" sz="3200" dirty="0">
                <a:latin typeface="Maven Pro" panose="020B0604020202020204" charset="0"/>
              </a:rPr>
              <a:t>Reduces data dimensionality and prevents overfitting.</a:t>
            </a:r>
          </a:p>
          <a:p>
            <a:pPr algn="just"/>
            <a:r>
              <a:rPr lang="en-US" sz="3200" dirty="0">
                <a:latin typeface="Maven Pro" panose="020B0604020202020204" charset="0"/>
              </a:rPr>
              <a:t>AUC of 84% using AdaBoost and XGBoost.</a:t>
            </a:r>
          </a:p>
          <a:p>
            <a:pPr algn="just"/>
            <a:endParaRPr lang="en-US" sz="3200" dirty="0">
              <a:latin typeface="Maven Pro" panose="020B0604020202020204" charset="0"/>
            </a:endParaRPr>
          </a:p>
          <a:p>
            <a:pPr algn="just"/>
            <a:r>
              <a:rPr lang="en-US" sz="3200" b="1" dirty="0">
                <a:latin typeface="Maven Pro" panose="020B0604020202020204" charset="0"/>
              </a:rPr>
              <a:t>Demerits</a:t>
            </a:r>
            <a:endParaRPr lang="en-US" sz="3200" dirty="0">
              <a:latin typeface="Maven Pro" panose="020B0604020202020204" charset="0"/>
            </a:endParaRPr>
          </a:p>
          <a:p>
            <a:pPr algn="just"/>
            <a:r>
              <a:rPr lang="en-US" sz="3200" dirty="0">
                <a:latin typeface="Maven Pro" panose="020B0604020202020204" charset="0"/>
              </a:rPr>
              <a:t>Limited improvement in class imbalance.</a:t>
            </a:r>
          </a:p>
          <a:p>
            <a:pPr algn="just"/>
            <a:r>
              <a:rPr lang="en-US" sz="3200" dirty="0">
                <a:latin typeface="Maven Pro" panose="020B0604020202020204" charset="0"/>
              </a:rPr>
              <a:t>High dependency on feature selection accuracy.</a:t>
            </a:r>
            <a:endParaRPr lang="en-US" sz="3200" dirty="0">
              <a:latin typeface="Maven Pro" panose="020B0604020202020204" charset="0"/>
              <a:cs typeface="Times New Roman" panose="02020603050405020304" pitchFamily="18" charset="0"/>
            </a:endParaRPr>
          </a:p>
        </p:txBody>
      </p:sp>
      <p:sp>
        <p:nvSpPr>
          <p:cNvPr id="3" name="TextBox 3">
            <a:extLst>
              <a:ext uri="{FF2B5EF4-FFF2-40B4-BE49-F238E27FC236}">
                <a16:creationId xmlns:a16="http://schemas.microsoft.com/office/drawing/2014/main" id="{F6B1FDD2-35A8-6C9C-9EB6-7461F41EE856}"/>
              </a:ext>
            </a:extLst>
          </p:cNvPr>
          <p:cNvSpPr txBox="1"/>
          <p:nvPr/>
        </p:nvSpPr>
        <p:spPr>
          <a:xfrm>
            <a:off x="1828800" y="1333500"/>
            <a:ext cx="13944600" cy="1568314"/>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rPr>
              <a:t>Customer Churn Prediction System: A Machine Learning Approach</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5" name="Freeform 5">
            <a:extLst>
              <a:ext uri="{FF2B5EF4-FFF2-40B4-BE49-F238E27FC236}">
                <a16:creationId xmlns:a16="http://schemas.microsoft.com/office/drawing/2014/main" id="{3DE63EE3-6EAE-2D23-D11E-68D957632159}"/>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E2F4FFFD-DC27-74E1-E4DD-C1B1DDB2E5C2}"/>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827488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CCE5ACD9-83E0-C27B-0193-65911BCEB8B7}"/>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3FF64F23-97C9-47B5-4066-83CB715C05C5}"/>
              </a:ext>
            </a:extLst>
          </p:cNvPr>
          <p:cNvSpPr/>
          <p:nvPr/>
        </p:nvSpPr>
        <p:spPr>
          <a:xfrm>
            <a:off x="14570196" y="9105900"/>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683C2588-C863-FEC9-18AE-519F5883C44F}"/>
              </a:ext>
            </a:extLst>
          </p:cNvPr>
          <p:cNvSpPr txBox="1"/>
          <p:nvPr/>
        </p:nvSpPr>
        <p:spPr>
          <a:xfrm>
            <a:off x="1061969" y="3390900"/>
            <a:ext cx="7067106" cy="5909310"/>
          </a:xfrm>
          <a:prstGeom prst="rect">
            <a:avLst/>
          </a:prstGeom>
        </p:spPr>
        <p:txBody>
          <a:bodyPr wrap="square" lIns="0" tIns="0" rIns="0" bIns="0" rtlCol="0" anchor="t">
            <a:spAutoFit/>
          </a:bodyPr>
          <a:lstStyle/>
          <a:p>
            <a:pPr algn="just"/>
            <a:r>
              <a:rPr lang="en-US" sz="3200" b="1" dirty="0">
                <a:latin typeface="Maven Pro" panose="020B0604020202020204" charset="0"/>
              </a:rPr>
              <a:t>Algorithms</a:t>
            </a:r>
            <a:endParaRPr lang="en-US" sz="3200" dirty="0">
              <a:latin typeface="Maven Pro" panose="020B0604020202020204" charset="0"/>
            </a:endParaRPr>
          </a:p>
          <a:p>
            <a:pPr algn="just"/>
            <a:endParaRPr lang="en-US" sz="3200" dirty="0">
              <a:latin typeface="Maven Pro" panose="020B0604020202020204" charset="0"/>
            </a:endParaRPr>
          </a:p>
          <a:p>
            <a:pPr algn="just"/>
            <a:r>
              <a:rPr lang="en-US" sz="3200" b="1" dirty="0">
                <a:latin typeface="Maven Pro" panose="020B0604020202020204" charset="0"/>
              </a:rPr>
              <a:t>Randomized Control Trial (RCT)</a:t>
            </a:r>
            <a:r>
              <a:rPr lang="en-US" sz="3200" dirty="0">
                <a:latin typeface="Maven Pro" panose="020B0604020202020204" charset="0"/>
              </a:rPr>
              <a:t>: </a:t>
            </a:r>
            <a:r>
              <a:rPr lang="en-US" sz="3000" dirty="0">
                <a:latin typeface="Maven Pro" panose="020B0604020202020204" charset="0"/>
              </a:rPr>
              <a:t>Used to evaluate the impact of encouraging customers to switch to cost-minimizing plans.</a:t>
            </a:r>
          </a:p>
          <a:p>
            <a:pPr algn="just"/>
            <a:endParaRPr lang="en-US" sz="3200" dirty="0">
              <a:latin typeface="Maven Pro" panose="020B0604020202020204" charset="0"/>
            </a:endParaRPr>
          </a:p>
          <a:p>
            <a:pPr algn="just"/>
            <a:r>
              <a:rPr lang="en-US" sz="3200" b="1" dirty="0">
                <a:latin typeface="Maven Pro" panose="020B0604020202020204" charset="0"/>
              </a:rPr>
              <a:t>Behavioral Analysis</a:t>
            </a:r>
            <a:r>
              <a:rPr lang="en-US" sz="3200" dirty="0">
                <a:latin typeface="Maven Pro" panose="020B0604020202020204" charset="0"/>
              </a:rPr>
              <a:t>: </a:t>
            </a:r>
            <a:r>
              <a:rPr lang="en-US" sz="3000" dirty="0">
                <a:latin typeface="Maven Pro" panose="020B0604020202020204" charset="0"/>
              </a:rPr>
              <a:t>Applied to understand the unintended effects of interventions, such as lowering customer inertia and increasing the salience of past usage patterns.</a:t>
            </a:r>
          </a:p>
        </p:txBody>
      </p:sp>
      <p:sp>
        <p:nvSpPr>
          <p:cNvPr id="3" name="TextBox 3">
            <a:extLst>
              <a:ext uri="{FF2B5EF4-FFF2-40B4-BE49-F238E27FC236}">
                <a16:creationId xmlns:a16="http://schemas.microsoft.com/office/drawing/2014/main" id="{4D7F158E-F1C1-4E90-D7AE-7B4A6E76C889}"/>
              </a:ext>
            </a:extLst>
          </p:cNvPr>
          <p:cNvSpPr txBox="1"/>
          <p:nvPr/>
        </p:nvSpPr>
        <p:spPr>
          <a:xfrm>
            <a:off x="1752600" y="739049"/>
            <a:ext cx="13944600" cy="2389052"/>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cs typeface="Times New Roman" panose="02020603050405020304" pitchFamily="18" charset="0"/>
              </a:rPr>
              <a:t>Literature Survey-5</a:t>
            </a:r>
          </a:p>
          <a:p>
            <a:pPr algn="ctr">
              <a:lnSpc>
                <a:spcPts val="6400"/>
              </a:lnSpc>
            </a:pPr>
            <a:r>
              <a:rPr lang="en-US" sz="4800" b="1" u="sng" dirty="0">
                <a:latin typeface="Maven Pro" panose="020B0604020202020204" charset="0"/>
                <a:cs typeface="Times New Roman" panose="02020603050405020304" pitchFamily="18" charset="0"/>
              </a:rPr>
              <a:t>The perils of proactive churn prevention-</a:t>
            </a:r>
            <a:br>
              <a:rPr lang="en-US" sz="4800" b="1" u="sng" dirty="0">
                <a:latin typeface="Maven Pro" panose="020B0604020202020204" charset="0"/>
                <a:cs typeface="Times New Roman" panose="02020603050405020304" pitchFamily="18" charset="0"/>
              </a:rPr>
            </a:br>
            <a:r>
              <a:rPr lang="en-US" sz="4800" b="1" u="sng" dirty="0">
                <a:latin typeface="Maven Pro" panose="020B0604020202020204" charset="0"/>
                <a:cs typeface="Times New Roman" panose="02020603050405020304" pitchFamily="18" charset="0"/>
              </a:rPr>
              <a:t>Using plan recommendations</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4" name="TextBox 4">
            <a:extLst>
              <a:ext uri="{FF2B5EF4-FFF2-40B4-BE49-F238E27FC236}">
                <a16:creationId xmlns:a16="http://schemas.microsoft.com/office/drawing/2014/main" id="{4A77DA4A-5F65-8D22-9B38-2361C8D37049}"/>
              </a:ext>
            </a:extLst>
          </p:cNvPr>
          <p:cNvSpPr txBox="1"/>
          <p:nvPr/>
        </p:nvSpPr>
        <p:spPr>
          <a:xfrm>
            <a:off x="8501131" y="3390900"/>
            <a:ext cx="8724900" cy="5601533"/>
          </a:xfrm>
          <a:prstGeom prst="rect">
            <a:avLst/>
          </a:prstGeom>
        </p:spPr>
        <p:txBody>
          <a:bodyPr wrap="square" lIns="0" tIns="0" rIns="0" bIns="0" rtlCol="0" anchor="t">
            <a:spAutoFit/>
          </a:bodyPr>
          <a:lstStyle/>
          <a:p>
            <a:pPr algn="just"/>
            <a:r>
              <a:rPr lang="en-US" sz="3200" b="1" dirty="0">
                <a:latin typeface="Maven Pro" panose="020B0604020202020204" charset="0"/>
              </a:rPr>
              <a:t>Key Findings</a:t>
            </a:r>
          </a:p>
          <a:p>
            <a:pPr algn="just"/>
            <a:endParaRPr lang="en-US" sz="3200" b="1" dirty="0">
              <a:latin typeface="Maven Pro" panose="020B0604020202020204" charset="0"/>
            </a:endParaRPr>
          </a:p>
          <a:p>
            <a:pPr algn="just"/>
            <a:r>
              <a:rPr lang="en-US" sz="3000" dirty="0">
                <a:latin typeface="Maven Pro" panose="020B0604020202020204" charset="0"/>
              </a:rPr>
              <a:t>Encouraging customers to switch to cost-minimizing plans unexpectedly increased churn rates.</a:t>
            </a:r>
          </a:p>
          <a:p>
            <a:pPr algn="just"/>
            <a:endParaRPr lang="en-US" sz="3000" dirty="0">
              <a:latin typeface="Maven Pro" panose="020B0604020202020204" charset="0"/>
            </a:endParaRPr>
          </a:p>
          <a:p>
            <a:pPr algn="just"/>
            <a:r>
              <a:rPr lang="en-US" sz="3000" dirty="0">
                <a:latin typeface="Maven Pro" panose="020B0604020202020204" charset="0"/>
              </a:rPr>
              <a:t>Churn in the treatment group was 10%, compared to 6% in the control group.</a:t>
            </a:r>
          </a:p>
          <a:p>
            <a:pPr algn="just"/>
            <a:endParaRPr lang="en-US" sz="3000" dirty="0">
              <a:latin typeface="Maven Pro" panose="020B0604020202020204" charset="0"/>
            </a:endParaRPr>
          </a:p>
          <a:p>
            <a:pPr algn="just"/>
            <a:r>
              <a:rPr lang="en-US" sz="3000" dirty="0">
                <a:latin typeface="Maven Pro" panose="020B0604020202020204" charset="0"/>
              </a:rPr>
              <a:t>Salience of Past Usage Patterns: The encouragement highlighted overspending or dissatisfaction, triggering latent churn behavior.</a:t>
            </a:r>
          </a:p>
        </p:txBody>
      </p:sp>
      <p:sp>
        <p:nvSpPr>
          <p:cNvPr id="5" name="Freeform 5">
            <a:extLst>
              <a:ext uri="{FF2B5EF4-FFF2-40B4-BE49-F238E27FC236}">
                <a16:creationId xmlns:a16="http://schemas.microsoft.com/office/drawing/2014/main" id="{6FE07E0D-61C3-B265-1AB0-AF1EAE71CCEC}"/>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2D34D7D5-0EBC-FA67-1152-3793D3EDB19B}"/>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3578363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D079D1F9-BF78-0EB1-41EA-198B9AD45157}"/>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E5960602-878E-45C7-D20B-E78BB5A89531}"/>
              </a:ext>
            </a:extLst>
          </p:cNvPr>
          <p:cNvSpPr/>
          <p:nvPr/>
        </p:nvSpPr>
        <p:spPr>
          <a:xfrm>
            <a:off x="14706600" y="9105900"/>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E973E5B8-8AB0-3D3A-7E90-6EACF113ECAB}"/>
              </a:ext>
            </a:extLst>
          </p:cNvPr>
          <p:cNvSpPr txBox="1"/>
          <p:nvPr/>
        </p:nvSpPr>
        <p:spPr>
          <a:xfrm>
            <a:off x="1676400" y="3238500"/>
            <a:ext cx="15178056" cy="5416868"/>
          </a:xfrm>
          <a:prstGeom prst="rect">
            <a:avLst/>
          </a:prstGeom>
        </p:spPr>
        <p:txBody>
          <a:bodyPr wrap="square" lIns="0" tIns="0" rIns="0" bIns="0" rtlCol="0" anchor="t">
            <a:spAutoFit/>
          </a:bodyPr>
          <a:lstStyle/>
          <a:p>
            <a:pPr algn="just"/>
            <a:r>
              <a:rPr lang="en-US" sz="3200" b="1" dirty="0">
                <a:latin typeface="Maven Pro" panose="020B0604020202020204" charset="0"/>
              </a:rPr>
              <a:t>Model: Randomized Control Trial (RCT) and Behavioral Analysis</a:t>
            </a:r>
          </a:p>
          <a:p>
            <a:pPr algn="just"/>
            <a:endParaRPr lang="en-IN" sz="3200" b="1" dirty="0">
              <a:latin typeface="Maven Pro" panose="020B0604020202020204" charset="0"/>
            </a:endParaRPr>
          </a:p>
          <a:p>
            <a:pPr algn="just"/>
            <a:r>
              <a:rPr lang="en-US" sz="3200" b="1" dirty="0">
                <a:latin typeface="Maven Pro" panose="020B0604020202020204" charset="0"/>
              </a:rPr>
              <a:t>Behavioral Model</a:t>
            </a:r>
            <a:r>
              <a:rPr lang="en-US" sz="3200" dirty="0">
                <a:latin typeface="Maven Pro" panose="020B0604020202020204" charset="0"/>
              </a:rPr>
              <a:t>: Explores the psychological and behavioral effects of interventions on customer decision-making.</a:t>
            </a:r>
          </a:p>
          <a:p>
            <a:pPr algn="just"/>
            <a:endParaRPr lang="en-US" sz="3200" dirty="0">
              <a:latin typeface="Maven Pro" panose="020B0604020202020204" charset="0"/>
            </a:endParaRPr>
          </a:p>
          <a:p>
            <a:pPr algn="just"/>
            <a:r>
              <a:rPr lang="en-US" sz="3200" b="1" dirty="0">
                <a:latin typeface="Maven Pro" panose="020B0604020202020204" charset="0"/>
              </a:rPr>
              <a:t>Merits</a:t>
            </a:r>
          </a:p>
          <a:p>
            <a:pPr algn="just"/>
            <a:r>
              <a:rPr lang="en-US" sz="3200" dirty="0">
                <a:latin typeface="Maven Pro" panose="020B0604020202020204" charset="0"/>
              </a:rPr>
              <a:t>Highlights potential unintended consequences of proactive churn prevention strategies.</a:t>
            </a:r>
          </a:p>
          <a:p>
            <a:pPr algn="just"/>
            <a:endParaRPr lang="en-US" sz="3200" dirty="0">
              <a:latin typeface="Maven Pro" panose="020B0604020202020204" charset="0"/>
            </a:endParaRPr>
          </a:p>
          <a:p>
            <a:pPr algn="just"/>
            <a:r>
              <a:rPr lang="en-US" sz="3200" b="1" dirty="0">
                <a:latin typeface="Maven Pro" panose="020B0604020202020204" charset="0"/>
              </a:rPr>
              <a:t>Demerits</a:t>
            </a:r>
            <a:endParaRPr lang="en-US" sz="3200" dirty="0">
              <a:latin typeface="Maven Pro" panose="020B0604020202020204" charset="0"/>
            </a:endParaRPr>
          </a:p>
          <a:p>
            <a:pPr algn="just"/>
            <a:r>
              <a:rPr lang="en-US" sz="3200" dirty="0">
                <a:latin typeface="Maven Pro" panose="020B0604020202020204" charset="0"/>
              </a:rPr>
              <a:t>No machine learning or automated prediction models were used.</a:t>
            </a:r>
            <a:endParaRPr lang="en-US" sz="3200" dirty="0">
              <a:latin typeface="Maven Pro" panose="020B0604020202020204" charset="0"/>
              <a:cs typeface="Times New Roman" panose="02020603050405020304" pitchFamily="18" charset="0"/>
            </a:endParaRPr>
          </a:p>
        </p:txBody>
      </p:sp>
      <p:sp>
        <p:nvSpPr>
          <p:cNvPr id="3" name="TextBox 3">
            <a:extLst>
              <a:ext uri="{FF2B5EF4-FFF2-40B4-BE49-F238E27FC236}">
                <a16:creationId xmlns:a16="http://schemas.microsoft.com/office/drawing/2014/main" id="{2D1BDC53-8FFD-AF18-094F-C0A97A0BC7D9}"/>
              </a:ext>
            </a:extLst>
          </p:cNvPr>
          <p:cNvSpPr txBox="1"/>
          <p:nvPr/>
        </p:nvSpPr>
        <p:spPr>
          <a:xfrm>
            <a:off x="1828800" y="1333500"/>
            <a:ext cx="13944600" cy="1568314"/>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cs typeface="Times New Roman" panose="02020603050405020304" pitchFamily="18" charset="0"/>
              </a:rPr>
              <a:t>The perils of proactive churn prevention-</a:t>
            </a:r>
            <a:br>
              <a:rPr lang="en-US" sz="4800" b="1" u="sng" dirty="0">
                <a:latin typeface="Maven Pro" panose="020B0604020202020204" charset="0"/>
                <a:cs typeface="Times New Roman" panose="02020603050405020304" pitchFamily="18" charset="0"/>
              </a:rPr>
            </a:br>
            <a:r>
              <a:rPr lang="en-US" sz="4800" b="1" u="sng" dirty="0">
                <a:latin typeface="Maven Pro" panose="020B0604020202020204" charset="0"/>
                <a:cs typeface="Times New Roman" panose="02020603050405020304" pitchFamily="18" charset="0"/>
              </a:rPr>
              <a:t>Using plan recommendations</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5" name="Freeform 5">
            <a:extLst>
              <a:ext uri="{FF2B5EF4-FFF2-40B4-BE49-F238E27FC236}">
                <a16:creationId xmlns:a16="http://schemas.microsoft.com/office/drawing/2014/main" id="{FB0FEB1A-F8C6-C87D-EDF8-C992970B34F5}"/>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4F3AFCE1-EDD3-418F-CC5A-9C17F15D57ED}"/>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211157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E672F01E-8284-A386-B0CD-E19D6ADE8115}"/>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FFA6BB56-5824-352A-21EE-B823EFECE03E}"/>
              </a:ext>
            </a:extLst>
          </p:cNvPr>
          <p:cNvSpPr/>
          <p:nvPr/>
        </p:nvSpPr>
        <p:spPr>
          <a:xfrm>
            <a:off x="14533325" y="8928841"/>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A12B52FB-C09E-761A-4911-FDE8676DFFD4}"/>
              </a:ext>
            </a:extLst>
          </p:cNvPr>
          <p:cNvSpPr txBox="1"/>
          <p:nvPr/>
        </p:nvSpPr>
        <p:spPr>
          <a:xfrm>
            <a:off x="1061969" y="3390900"/>
            <a:ext cx="7067106" cy="4770537"/>
          </a:xfrm>
          <a:prstGeom prst="rect">
            <a:avLst/>
          </a:prstGeom>
        </p:spPr>
        <p:txBody>
          <a:bodyPr wrap="square" lIns="0" tIns="0" rIns="0" bIns="0" rtlCol="0" anchor="t">
            <a:spAutoFit/>
          </a:bodyPr>
          <a:lstStyle/>
          <a:p>
            <a:pPr algn="just"/>
            <a:r>
              <a:rPr lang="en-US" sz="3200" b="1" dirty="0">
                <a:latin typeface="Maven Pro" panose="020B0604020202020204" charset="0"/>
              </a:rPr>
              <a:t>Algorithms</a:t>
            </a:r>
            <a:endParaRPr lang="en-US" sz="3200" dirty="0">
              <a:latin typeface="Maven Pro" panose="020B0604020202020204" charset="0"/>
            </a:endParaRPr>
          </a:p>
          <a:p>
            <a:pPr algn="just"/>
            <a:endParaRPr lang="en-US" sz="3200" dirty="0">
              <a:latin typeface="Maven Pro" panose="020B0604020202020204" charset="0"/>
            </a:endParaRPr>
          </a:p>
          <a:p>
            <a:pPr algn="just"/>
            <a:r>
              <a:rPr lang="en-US" sz="3200" b="1" dirty="0">
                <a:latin typeface="Maven Pro" panose="020B0604020202020204" charset="0"/>
              </a:rPr>
              <a:t>XGBoost</a:t>
            </a:r>
            <a:r>
              <a:rPr lang="en-US" sz="3200" dirty="0">
                <a:latin typeface="Maven Pro" panose="020B0604020202020204" charset="0"/>
              </a:rPr>
              <a:t>: </a:t>
            </a:r>
            <a:r>
              <a:rPr lang="en-US" sz="3000" dirty="0">
                <a:latin typeface="Maven Pro" panose="020B0604020202020204" charset="0"/>
              </a:rPr>
              <a:t>Decision-tree-based ensemble boosting technique for strong classifier performance.</a:t>
            </a:r>
          </a:p>
          <a:p>
            <a:pPr algn="just"/>
            <a:endParaRPr lang="en-US" sz="3200" dirty="0">
              <a:latin typeface="Maven Pro" panose="020B0604020202020204" charset="0"/>
            </a:endParaRPr>
          </a:p>
          <a:p>
            <a:pPr algn="just"/>
            <a:r>
              <a:rPr lang="en-US" sz="3200" b="1" dirty="0">
                <a:latin typeface="Maven Pro" panose="020B0604020202020204" charset="0"/>
              </a:rPr>
              <a:t>Random Forest</a:t>
            </a:r>
            <a:r>
              <a:rPr lang="en-US" sz="3200" dirty="0">
                <a:latin typeface="Maven Pro" panose="020B0604020202020204" charset="0"/>
              </a:rPr>
              <a:t>: </a:t>
            </a:r>
            <a:r>
              <a:rPr lang="en-US" sz="3000" dirty="0">
                <a:latin typeface="Maven Pro" panose="020B0604020202020204" charset="0"/>
              </a:rPr>
              <a:t>An ensemble learning method using multiple decision trees and averaging their results to improve accuracy and reduce overfitting.</a:t>
            </a:r>
          </a:p>
        </p:txBody>
      </p:sp>
      <p:sp>
        <p:nvSpPr>
          <p:cNvPr id="3" name="TextBox 3">
            <a:extLst>
              <a:ext uri="{FF2B5EF4-FFF2-40B4-BE49-F238E27FC236}">
                <a16:creationId xmlns:a16="http://schemas.microsoft.com/office/drawing/2014/main" id="{04F95BE4-8AB1-A737-0A19-CF74D3D999F4}"/>
              </a:ext>
            </a:extLst>
          </p:cNvPr>
          <p:cNvSpPr txBox="1"/>
          <p:nvPr/>
        </p:nvSpPr>
        <p:spPr>
          <a:xfrm>
            <a:off x="1323975" y="571980"/>
            <a:ext cx="15087600" cy="2389052"/>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cs typeface="Times New Roman" panose="02020603050405020304" pitchFamily="18" charset="0"/>
              </a:rPr>
              <a:t>Literature Survey-6</a:t>
            </a:r>
          </a:p>
          <a:p>
            <a:pPr algn="ctr">
              <a:lnSpc>
                <a:spcPts val="6400"/>
              </a:lnSpc>
            </a:pPr>
            <a:r>
              <a:rPr lang="en-US" sz="4800" b="1" u="sng" dirty="0">
                <a:latin typeface="Maven Pro" panose="020B0604020202020204" charset="0"/>
                <a:cs typeface="Times New Roman" panose="02020603050405020304" pitchFamily="18" charset="0"/>
              </a:rPr>
              <a:t>Customer churn prediction using machine learning-</a:t>
            </a:r>
            <a:br>
              <a:rPr lang="en-US" sz="4800" b="1" u="sng" dirty="0">
                <a:latin typeface="Maven Pro" panose="020B0604020202020204" charset="0"/>
                <a:cs typeface="Times New Roman" panose="02020603050405020304" pitchFamily="18" charset="0"/>
              </a:rPr>
            </a:br>
            <a:r>
              <a:rPr lang="en-US" sz="4800" b="1" u="sng" dirty="0">
                <a:latin typeface="Maven Pro" panose="020B0604020202020204" charset="0"/>
                <a:cs typeface="Times New Roman" panose="02020603050405020304" pitchFamily="18" charset="0"/>
              </a:rPr>
              <a:t> A study in the B2B subscription</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4" name="TextBox 4">
            <a:extLst>
              <a:ext uri="{FF2B5EF4-FFF2-40B4-BE49-F238E27FC236}">
                <a16:creationId xmlns:a16="http://schemas.microsoft.com/office/drawing/2014/main" id="{B3BB06F4-429A-CA5A-A77B-C669918D40F7}"/>
              </a:ext>
            </a:extLst>
          </p:cNvPr>
          <p:cNvSpPr txBox="1"/>
          <p:nvPr/>
        </p:nvSpPr>
        <p:spPr>
          <a:xfrm>
            <a:off x="8524742" y="3390900"/>
            <a:ext cx="8724900" cy="4678204"/>
          </a:xfrm>
          <a:prstGeom prst="rect">
            <a:avLst/>
          </a:prstGeom>
        </p:spPr>
        <p:txBody>
          <a:bodyPr wrap="square" lIns="0" tIns="0" rIns="0" bIns="0" rtlCol="0" anchor="t">
            <a:spAutoFit/>
          </a:bodyPr>
          <a:lstStyle/>
          <a:p>
            <a:pPr algn="just"/>
            <a:r>
              <a:rPr lang="en-US" sz="3200" b="1" dirty="0">
                <a:latin typeface="Maven Pro" panose="020B0604020202020204" charset="0"/>
              </a:rPr>
              <a:t>Key Findings</a:t>
            </a:r>
          </a:p>
          <a:p>
            <a:pPr algn="just"/>
            <a:endParaRPr lang="en-US" sz="3200" b="1" dirty="0">
              <a:latin typeface="Maven Pro" panose="020B0604020202020204" charset="0"/>
            </a:endParaRPr>
          </a:p>
          <a:p>
            <a:pPr algn="just"/>
            <a:r>
              <a:rPr lang="en-US" sz="3000" dirty="0">
                <a:latin typeface="Maven Pro" panose="020B0604020202020204" charset="0"/>
              </a:rPr>
              <a:t>XGBoost and Random Forest outperformed Naïve Bayes in predicting churn, with higher accuracy, precision, and recall.</a:t>
            </a:r>
          </a:p>
          <a:p>
            <a:pPr algn="just"/>
            <a:endParaRPr lang="en-US" sz="3000" dirty="0">
              <a:latin typeface="Maven Pro" panose="020B0604020202020204" charset="0"/>
            </a:endParaRPr>
          </a:p>
          <a:p>
            <a:pPr algn="just"/>
            <a:r>
              <a:rPr lang="en-US" sz="3000" dirty="0">
                <a:latin typeface="Maven Pro" panose="020B0604020202020204" charset="0"/>
              </a:rPr>
              <a:t>Metrics such as accuracy, precision, recall, and F1-score were used to assess the models. Ensemble methods performed consistently better than single models like Naïve Bayes.</a:t>
            </a:r>
          </a:p>
        </p:txBody>
      </p:sp>
      <p:sp>
        <p:nvSpPr>
          <p:cNvPr id="5" name="Freeform 5">
            <a:extLst>
              <a:ext uri="{FF2B5EF4-FFF2-40B4-BE49-F238E27FC236}">
                <a16:creationId xmlns:a16="http://schemas.microsoft.com/office/drawing/2014/main" id="{EBF92202-560F-1112-B8B2-53068F1748A8}"/>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496AE80B-D939-11CB-E221-46B968B73C27}"/>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992873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919F8B2E-C4CE-40A2-4521-99CF2C714AFC}"/>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12627829-4CBA-8054-D279-4453FBDEFF91}"/>
              </a:ext>
            </a:extLst>
          </p:cNvPr>
          <p:cNvSpPr/>
          <p:nvPr/>
        </p:nvSpPr>
        <p:spPr>
          <a:xfrm>
            <a:off x="14567641" y="8928841"/>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 name="TextBox 2">
            <a:extLst>
              <a:ext uri="{FF2B5EF4-FFF2-40B4-BE49-F238E27FC236}">
                <a16:creationId xmlns:a16="http://schemas.microsoft.com/office/drawing/2014/main" id="{16A4B191-9A8B-6DE8-2378-EFE27201E386}"/>
              </a:ext>
            </a:extLst>
          </p:cNvPr>
          <p:cNvSpPr txBox="1"/>
          <p:nvPr/>
        </p:nvSpPr>
        <p:spPr>
          <a:xfrm>
            <a:off x="2075422" y="3341371"/>
            <a:ext cx="15178056" cy="5909310"/>
          </a:xfrm>
          <a:prstGeom prst="rect">
            <a:avLst/>
          </a:prstGeom>
        </p:spPr>
        <p:txBody>
          <a:bodyPr wrap="square" lIns="0" tIns="0" rIns="0" bIns="0" rtlCol="0" anchor="t">
            <a:spAutoFit/>
          </a:bodyPr>
          <a:lstStyle/>
          <a:p>
            <a:r>
              <a:rPr lang="en-US" sz="3200" b="1" dirty="0">
                <a:latin typeface="Maven Pro" panose="020B0604020202020204" charset="0"/>
              </a:rPr>
              <a:t>Model: </a:t>
            </a:r>
            <a:r>
              <a:rPr lang="en-IN" sz="3200" b="1" dirty="0">
                <a:latin typeface="Maven Pro" panose="020B0604020202020204" charset="0"/>
              </a:rPr>
              <a:t>Machine Learning-based Churn Prediction</a:t>
            </a:r>
            <a:endParaRPr lang="en-US" sz="3200" b="1" dirty="0">
              <a:latin typeface="Maven Pro" panose="020B0604020202020204" charset="0"/>
            </a:endParaRPr>
          </a:p>
          <a:p>
            <a:endParaRPr lang="en-IN" sz="3200" b="1" dirty="0">
              <a:latin typeface="Maven Pro" panose="020B0604020202020204" charset="0"/>
            </a:endParaRPr>
          </a:p>
          <a:p>
            <a:r>
              <a:rPr lang="en-US" sz="3200" dirty="0">
                <a:latin typeface="Maven Pro" panose="020B0604020202020204" charset="0"/>
              </a:rPr>
              <a:t>A binary classification model to predict whether a customer will churn in a subscription-based B2B context.</a:t>
            </a:r>
          </a:p>
          <a:p>
            <a:endParaRPr lang="en-US" sz="3200" dirty="0">
              <a:latin typeface="Maven Pro" panose="020B0604020202020204" charset="0"/>
            </a:endParaRPr>
          </a:p>
          <a:p>
            <a:r>
              <a:rPr lang="en-US" sz="3200" b="1" dirty="0">
                <a:latin typeface="Maven Pro" panose="020B0604020202020204" charset="0"/>
              </a:rPr>
              <a:t>Merits</a:t>
            </a:r>
          </a:p>
          <a:p>
            <a:r>
              <a:rPr lang="en-US" sz="3200" dirty="0">
                <a:latin typeface="Maven Pro" panose="020B0604020202020204" charset="0"/>
              </a:rPr>
              <a:t>Sampling methods improved classifier performance on imbalanced data.</a:t>
            </a:r>
          </a:p>
          <a:p>
            <a:r>
              <a:rPr lang="en-US" sz="3200" dirty="0">
                <a:latin typeface="Maven Pro" panose="020B0604020202020204" charset="0"/>
              </a:rPr>
              <a:t>Comprehensive evaluation using metrics like accuracy, precision and recall.</a:t>
            </a:r>
          </a:p>
          <a:p>
            <a:pPr>
              <a:buFont typeface="Arial" panose="020B0604020202020204" pitchFamily="34" charset="0"/>
              <a:buChar char="•"/>
            </a:pPr>
            <a:endParaRPr lang="en-US" sz="3200" dirty="0">
              <a:latin typeface="Maven Pro" panose="020B0604020202020204" charset="0"/>
            </a:endParaRPr>
          </a:p>
          <a:p>
            <a:r>
              <a:rPr lang="en-US" sz="3200" b="1" dirty="0">
                <a:latin typeface="Maven Pro" panose="020B0604020202020204" charset="0"/>
              </a:rPr>
              <a:t>Demerits</a:t>
            </a:r>
            <a:endParaRPr lang="en-US" sz="3200" dirty="0">
              <a:latin typeface="Maven Pro" panose="020B0604020202020204" charset="0"/>
            </a:endParaRPr>
          </a:p>
          <a:p>
            <a:r>
              <a:rPr lang="en-US" sz="3200" dirty="0">
                <a:latin typeface="Maven Pro" panose="020B0604020202020204" charset="0"/>
              </a:rPr>
              <a:t>Limited focus on economic implications of churn prediction.</a:t>
            </a:r>
          </a:p>
          <a:p>
            <a:r>
              <a:rPr lang="en-US" sz="3200" dirty="0">
                <a:latin typeface="Maven Pro" panose="020B0604020202020204" charset="0"/>
              </a:rPr>
              <a:t>Study specific to financial administration in the B2B context.</a:t>
            </a:r>
            <a:endParaRPr lang="en-US" sz="3200" dirty="0">
              <a:latin typeface="Maven Pro" panose="020B0604020202020204" charset="0"/>
              <a:cs typeface="Times New Roman" panose="02020603050405020304" pitchFamily="18" charset="0"/>
            </a:endParaRPr>
          </a:p>
        </p:txBody>
      </p:sp>
      <p:sp>
        <p:nvSpPr>
          <p:cNvPr id="3" name="TextBox 3">
            <a:extLst>
              <a:ext uri="{FF2B5EF4-FFF2-40B4-BE49-F238E27FC236}">
                <a16:creationId xmlns:a16="http://schemas.microsoft.com/office/drawing/2014/main" id="{2BB99CB5-C982-4D5B-B6B1-B84241C6AF49}"/>
              </a:ext>
            </a:extLst>
          </p:cNvPr>
          <p:cNvSpPr txBox="1"/>
          <p:nvPr/>
        </p:nvSpPr>
        <p:spPr>
          <a:xfrm>
            <a:off x="1371600" y="1289186"/>
            <a:ext cx="14554200" cy="1568314"/>
          </a:xfrm>
          <a:prstGeom prst="rect">
            <a:avLst/>
          </a:prstGeom>
        </p:spPr>
        <p:txBody>
          <a:bodyPr wrap="square" lIns="0" tIns="0" rIns="0" bIns="0" rtlCol="0" anchor="t">
            <a:spAutoFit/>
          </a:bodyPr>
          <a:lstStyle/>
          <a:p>
            <a:pPr algn="ctr">
              <a:lnSpc>
                <a:spcPts val="6400"/>
              </a:lnSpc>
            </a:pPr>
            <a:r>
              <a:rPr lang="en-US" sz="4800" b="1" u="sng" dirty="0">
                <a:latin typeface="Maven Pro" panose="020B0604020202020204" charset="0"/>
                <a:cs typeface="Times New Roman" panose="02020603050405020304" pitchFamily="18" charset="0"/>
              </a:rPr>
              <a:t>Customer churn prediction using machine learning-</a:t>
            </a:r>
            <a:br>
              <a:rPr lang="en-US" sz="4800" b="1" u="sng" dirty="0">
                <a:latin typeface="Maven Pro" panose="020B0604020202020204" charset="0"/>
                <a:cs typeface="Times New Roman" panose="02020603050405020304" pitchFamily="18" charset="0"/>
              </a:rPr>
            </a:br>
            <a:r>
              <a:rPr lang="en-US" sz="4800" b="1" u="sng" dirty="0">
                <a:latin typeface="Maven Pro" panose="020B0604020202020204" charset="0"/>
                <a:cs typeface="Times New Roman" panose="02020603050405020304" pitchFamily="18" charset="0"/>
              </a:rPr>
              <a:t> A study in the B2B subscription</a:t>
            </a:r>
            <a:endParaRPr lang="en-US" sz="4800" b="1" u="sng" dirty="0">
              <a:solidFill>
                <a:srgbClr val="252D37"/>
              </a:solidFill>
              <a:latin typeface="Maven Pro" panose="020B0604020202020204" charset="0"/>
              <a:ea typeface="Maven Pro Bold"/>
              <a:cs typeface="Maven Pro Bold"/>
              <a:sym typeface="Maven Pro Bold"/>
            </a:endParaRPr>
          </a:p>
        </p:txBody>
      </p:sp>
      <p:sp>
        <p:nvSpPr>
          <p:cNvPr id="5" name="Freeform 5">
            <a:extLst>
              <a:ext uri="{FF2B5EF4-FFF2-40B4-BE49-F238E27FC236}">
                <a16:creationId xmlns:a16="http://schemas.microsoft.com/office/drawing/2014/main" id="{FE5B1AD6-5F4A-C5F7-8148-9FDD27248765}"/>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62152250-242B-9213-A563-00AF4348D37F}"/>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646860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399923" y="3161019"/>
            <a:ext cx="13297277" cy="6463308"/>
          </a:xfrm>
          <a:prstGeom prst="rect">
            <a:avLst/>
          </a:prstGeom>
        </p:spPr>
        <p:txBody>
          <a:bodyPr lIns="0" tIns="0" rIns="0" bIns="0" rtlCol="0" anchor="t">
            <a:spAutoFit/>
          </a:bodyPr>
          <a:lstStyle/>
          <a:p>
            <a:pPr algn="just"/>
            <a:r>
              <a:rPr lang="en-US" sz="2800" b="1" dirty="0">
                <a:latin typeface="Maven Pro" panose="020B0604020202020204" charset="0"/>
              </a:rPr>
              <a:t>Survival Analysis Models</a:t>
            </a:r>
            <a:r>
              <a:rPr lang="en-US" sz="2800" dirty="0">
                <a:latin typeface="Maven Pro" panose="020B0604020202020204" charset="0"/>
              </a:rPr>
              <a:t>: Predict churn timing using the Cox Proportional Hazard Model, focusing on factors like tenure and payment methods.</a:t>
            </a:r>
          </a:p>
          <a:p>
            <a:pPr algn="just"/>
            <a:r>
              <a:rPr lang="en-US" sz="2800" b="1" dirty="0">
                <a:latin typeface="Maven Pro" panose="020B0604020202020204" charset="0"/>
              </a:rPr>
              <a:t>Machine Learning Models</a:t>
            </a:r>
            <a:r>
              <a:rPr lang="en-US" sz="2800" dirty="0">
                <a:latin typeface="Maven Pro" panose="020B0604020202020204" charset="0"/>
              </a:rPr>
              <a:t>: Random Forest, KNN, and Decision Trees are widely used for churn classification, with Random Forest achieving high accuracy.</a:t>
            </a:r>
          </a:p>
          <a:p>
            <a:pPr algn="just"/>
            <a:r>
              <a:rPr lang="en-US" sz="2800" b="1" dirty="0">
                <a:latin typeface="Maven Pro" panose="020B0604020202020204" charset="0"/>
              </a:rPr>
              <a:t>Big Data Platforms</a:t>
            </a:r>
            <a:r>
              <a:rPr lang="en-US" sz="2800" dirty="0">
                <a:latin typeface="Maven Pro" panose="020B0604020202020204" charset="0"/>
              </a:rPr>
              <a:t>: Utilize Hadoop and Spark to handle massive datasets and integrate Social Network Analysis (SNA) for enhanced features.</a:t>
            </a:r>
          </a:p>
          <a:p>
            <a:pPr algn="just"/>
            <a:r>
              <a:rPr lang="en-US" sz="2800" b="1" dirty="0">
                <a:latin typeface="Maven Pro" panose="020B0604020202020204" charset="0"/>
              </a:rPr>
              <a:t>Boosting Algorithms</a:t>
            </a:r>
            <a:r>
              <a:rPr lang="en-US" sz="2800" dirty="0">
                <a:latin typeface="Maven Pro" panose="020B0604020202020204" charset="0"/>
              </a:rPr>
              <a:t>: Models like XGBoost and AdaBoost improve prediction accuracy by combining weak learners.</a:t>
            </a:r>
          </a:p>
          <a:p>
            <a:pPr algn="just"/>
            <a:r>
              <a:rPr lang="en-US" sz="2800" b="1" dirty="0">
                <a:latin typeface="Maven Pro" panose="020B0604020202020204" charset="0"/>
              </a:rPr>
              <a:t>Feature Optimization</a:t>
            </a:r>
            <a:r>
              <a:rPr lang="en-US" sz="2800" dirty="0">
                <a:latin typeface="Maven Pro" panose="020B0604020202020204" charset="0"/>
              </a:rPr>
              <a:t>: Techniques like Gravitational Search Algorithm (GSA) reduce dimensionality and enhance model performance.</a:t>
            </a:r>
          </a:p>
          <a:p>
            <a:pPr algn="just"/>
            <a:endParaRPr lang="en-US" sz="2800" dirty="0">
              <a:latin typeface="Maven Pro" panose="020B0604020202020204" charset="0"/>
            </a:endParaRPr>
          </a:p>
          <a:p>
            <a:pPr algn="just"/>
            <a:r>
              <a:rPr lang="en-IN" sz="2800" b="1" dirty="0">
                <a:latin typeface="Maven Pro" panose="020B0604020202020204" charset="0"/>
              </a:rPr>
              <a:t>Challenges in Existing Systems:</a:t>
            </a:r>
          </a:p>
          <a:p>
            <a:pPr marL="457200" indent="-457200" algn="just">
              <a:buFont typeface="Arial" panose="020B0604020202020204" pitchFamily="34" charset="0"/>
              <a:buChar char="•"/>
            </a:pPr>
            <a:r>
              <a:rPr lang="en-US" sz="2800" dirty="0">
                <a:latin typeface="Maven Pro" panose="020B0604020202020204" charset="0"/>
              </a:rPr>
              <a:t>Scalability issues with traditional data processing methods.</a:t>
            </a:r>
            <a:endParaRPr lang="en-IN" sz="2800" dirty="0">
              <a:latin typeface="Maven Pro" panose="020B0604020202020204" charset="0"/>
            </a:endParaRPr>
          </a:p>
          <a:p>
            <a:pPr marL="457200" indent="-457200" algn="just">
              <a:buFont typeface="Arial" panose="020B0604020202020204" pitchFamily="34" charset="0"/>
              <a:buChar char="•"/>
            </a:pPr>
            <a:r>
              <a:rPr lang="en-IN" sz="2800" dirty="0">
                <a:latin typeface="Maven Pro" panose="020B0604020202020204" charset="0"/>
              </a:rPr>
              <a:t>Overfitting risks in standalone models.</a:t>
            </a:r>
          </a:p>
          <a:p>
            <a:pPr marL="457200" indent="-457200" algn="just">
              <a:buFont typeface="Arial" panose="020B0604020202020204" pitchFamily="34" charset="0"/>
              <a:buChar char="•"/>
            </a:pPr>
            <a:r>
              <a:rPr lang="en-US" sz="2800" dirty="0">
                <a:latin typeface="Maven Pro" panose="020B0604020202020204" charset="0"/>
              </a:rPr>
              <a:t>Limited real-time adaptability for large-scale dynamic datasets.</a:t>
            </a:r>
          </a:p>
        </p:txBody>
      </p:sp>
      <p:sp>
        <p:nvSpPr>
          <p:cNvPr id="3" name="TextBox 3"/>
          <p:cNvSpPr txBox="1"/>
          <p:nvPr/>
        </p:nvSpPr>
        <p:spPr>
          <a:xfrm>
            <a:off x="2999624" y="1714500"/>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EXISTING SYSTEMS</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4706600" y="8945247"/>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3148885" y="1515800"/>
            <a:ext cx="10871034" cy="835550"/>
          </a:xfrm>
          <a:prstGeom prst="rect">
            <a:avLst/>
          </a:prstGeom>
        </p:spPr>
        <p:txBody>
          <a:bodyPr wrap="square" lIns="0" tIns="0" rIns="0" bIns="0" rtlCol="0" anchor="t">
            <a:spAutoFit/>
          </a:bodyPr>
          <a:lstStyle/>
          <a:p>
            <a:pPr algn="ctr">
              <a:lnSpc>
                <a:spcPts val="6400"/>
              </a:lnSpc>
            </a:pPr>
            <a:r>
              <a:rPr lang="en-US" sz="8000" b="1" dirty="0">
                <a:solidFill>
                  <a:srgbClr val="252930"/>
                </a:solidFill>
                <a:latin typeface="Maven Pro Bold"/>
                <a:ea typeface="Maven Pro Bold"/>
                <a:cs typeface="Maven Pro Bold"/>
                <a:sym typeface="Maven Pro Bold"/>
              </a:rPr>
              <a:t>PROPOSED SYSTEMS</a:t>
            </a:r>
          </a:p>
        </p:txBody>
      </p:sp>
      <p:sp>
        <p:nvSpPr>
          <p:cNvPr id="3" name="TextBox 3"/>
          <p:cNvSpPr txBox="1"/>
          <p:nvPr/>
        </p:nvSpPr>
        <p:spPr>
          <a:xfrm>
            <a:off x="2637774" y="2535921"/>
            <a:ext cx="11992626" cy="7715125"/>
          </a:xfrm>
          <a:prstGeom prst="rect">
            <a:avLst/>
          </a:prstGeom>
        </p:spPr>
        <p:txBody>
          <a:bodyPr wrap="square" lIns="0" tIns="0" rIns="0" bIns="0" rtlCol="0" anchor="t">
            <a:spAutoFit/>
          </a:bodyPr>
          <a:lstStyle/>
          <a:p>
            <a:pPr marL="345441" lvl="1" algn="just">
              <a:lnSpc>
                <a:spcPts val="4480"/>
              </a:lnSpc>
            </a:pPr>
            <a:r>
              <a:rPr lang="en-US" sz="3200" b="1" dirty="0">
                <a:solidFill>
                  <a:srgbClr val="252930"/>
                </a:solidFill>
                <a:latin typeface="Maven Pro" panose="020B0604020202020204" charset="0"/>
                <a:ea typeface="Maven Pro"/>
                <a:cs typeface="Maven Pro"/>
                <a:sym typeface="Maven Pro"/>
              </a:rPr>
              <a:t>Algorithms:</a:t>
            </a:r>
          </a:p>
          <a:p>
            <a:pPr marL="914400" lvl="1" indent="-457200" algn="just">
              <a:buFont typeface="Arial" panose="020B0604020202020204" pitchFamily="34" charset="0"/>
              <a:buChar char="•"/>
            </a:pPr>
            <a:r>
              <a:rPr lang="en-IN" sz="3200" b="1" dirty="0">
                <a:latin typeface="Maven Pro" panose="020B0604020202020204" charset="0"/>
                <a:cs typeface="Times New Roman" panose="02020603050405020304" pitchFamily="18" charset="0"/>
              </a:rPr>
              <a:t>Logistic Regression</a:t>
            </a:r>
            <a:r>
              <a:rPr lang="en-IN" sz="3200" dirty="0">
                <a:latin typeface="Maven Pro" panose="020B0604020202020204" charset="0"/>
                <a:cs typeface="Times New Roman" panose="02020603050405020304" pitchFamily="18" charset="0"/>
              </a:rPr>
              <a:t>: </a:t>
            </a:r>
            <a:r>
              <a:rPr lang="en-US" sz="3000" dirty="0">
                <a:latin typeface="Maven Pro" panose="020B0604020202020204" charset="0"/>
              </a:rPr>
              <a:t>A statistical algorithm used for binary classification tasks by modeling the probability of a certain class using a sigmoid function.</a:t>
            </a:r>
            <a:endParaRPr lang="en-IN" sz="3000" dirty="0">
              <a:latin typeface="Maven Pro" panose="020B0604020202020204" charset="0"/>
              <a:cs typeface="Times New Roman" panose="02020603050405020304" pitchFamily="18" charset="0"/>
            </a:endParaRPr>
          </a:p>
          <a:p>
            <a:pPr marL="914400" lvl="1" indent="-457200" algn="just">
              <a:buFont typeface="Arial" panose="020B0604020202020204" pitchFamily="34" charset="0"/>
              <a:buChar char="•"/>
            </a:pPr>
            <a:r>
              <a:rPr lang="en-IN" sz="3200" b="1" dirty="0">
                <a:latin typeface="Maven Pro" panose="020B0604020202020204" charset="0"/>
                <a:cs typeface="Times New Roman" panose="02020603050405020304" pitchFamily="18" charset="0"/>
              </a:rPr>
              <a:t>Support Vector Classifier</a:t>
            </a:r>
            <a:r>
              <a:rPr lang="en-IN" sz="3200" dirty="0">
                <a:latin typeface="Maven Pro" panose="020B0604020202020204" charset="0"/>
                <a:cs typeface="Times New Roman" panose="02020603050405020304" pitchFamily="18" charset="0"/>
              </a:rPr>
              <a:t>: </a:t>
            </a:r>
            <a:r>
              <a:rPr lang="en-US" sz="3000" dirty="0">
                <a:latin typeface="Maven Pro" panose="020B0604020202020204" charset="0"/>
              </a:rPr>
              <a:t>A supervised learning algorithm that identifies the hyperplane maximizing the margin between data classes.</a:t>
            </a:r>
            <a:endParaRPr lang="en-IN" sz="3000" dirty="0">
              <a:latin typeface="Maven Pro" panose="020B0604020202020204" charset="0"/>
              <a:cs typeface="Times New Roman" panose="02020603050405020304" pitchFamily="18" charset="0"/>
            </a:endParaRPr>
          </a:p>
          <a:p>
            <a:pPr marL="914400" lvl="1" indent="-457200" algn="just">
              <a:buFont typeface="Arial" panose="020B0604020202020204" pitchFamily="34" charset="0"/>
              <a:buChar char="•"/>
            </a:pPr>
            <a:r>
              <a:rPr lang="en-IN" sz="3200" b="1" dirty="0">
                <a:latin typeface="Maven Pro" panose="020B0604020202020204" charset="0"/>
                <a:cs typeface="Times New Roman" panose="02020603050405020304" pitchFamily="18" charset="0"/>
              </a:rPr>
              <a:t>Naive Bayes</a:t>
            </a:r>
            <a:r>
              <a:rPr lang="en-IN" sz="3200" dirty="0">
                <a:latin typeface="Maven Pro" panose="020B0604020202020204" charset="0"/>
                <a:cs typeface="Times New Roman" panose="02020603050405020304" pitchFamily="18" charset="0"/>
              </a:rPr>
              <a:t>: </a:t>
            </a:r>
            <a:r>
              <a:rPr lang="en-US" sz="3000" dirty="0">
                <a:latin typeface="Maven Pro" panose="020B0604020202020204" charset="0"/>
              </a:rPr>
              <a:t>A probabilistic algorithm based on Bayes' theorem, assuming strong independence between features.</a:t>
            </a:r>
            <a:endParaRPr lang="en-IN" sz="3000" dirty="0">
              <a:latin typeface="Maven Pro" panose="020B0604020202020204" charset="0"/>
              <a:cs typeface="Times New Roman" panose="02020603050405020304" pitchFamily="18" charset="0"/>
            </a:endParaRPr>
          </a:p>
          <a:p>
            <a:pPr marL="914400" lvl="1" indent="-457200" algn="just">
              <a:buFont typeface="Arial" panose="020B0604020202020204" pitchFamily="34" charset="0"/>
              <a:buChar char="•"/>
            </a:pPr>
            <a:r>
              <a:rPr lang="en-IN" sz="3200" b="1" dirty="0">
                <a:latin typeface="Maven Pro" panose="020B0604020202020204" charset="0"/>
                <a:cs typeface="Times New Roman" panose="02020603050405020304" pitchFamily="18" charset="0"/>
              </a:rPr>
              <a:t>Decision Tree</a:t>
            </a:r>
            <a:r>
              <a:rPr lang="en-IN" sz="3200" dirty="0">
                <a:latin typeface="Maven Pro" panose="020B0604020202020204" charset="0"/>
                <a:cs typeface="Times New Roman" panose="02020603050405020304" pitchFamily="18" charset="0"/>
              </a:rPr>
              <a:t>: </a:t>
            </a:r>
            <a:r>
              <a:rPr lang="en-US" sz="3000" dirty="0">
                <a:latin typeface="Maven Pro" panose="020B0604020202020204" charset="0"/>
              </a:rPr>
              <a:t>A tree-like model where nodes represent feature splits and leaves represent class labels, making it interpretable.</a:t>
            </a:r>
            <a:endParaRPr lang="en-IN" sz="3000" dirty="0">
              <a:latin typeface="Maven Pro" panose="020B0604020202020204" charset="0"/>
              <a:cs typeface="Times New Roman" panose="02020603050405020304" pitchFamily="18" charset="0"/>
            </a:endParaRPr>
          </a:p>
          <a:p>
            <a:pPr marL="914400" lvl="1" indent="-457200" algn="just">
              <a:buFont typeface="Arial" panose="020B0604020202020204" pitchFamily="34" charset="0"/>
              <a:buChar char="•"/>
            </a:pPr>
            <a:r>
              <a:rPr lang="en-IN" sz="3200" b="1" dirty="0">
                <a:latin typeface="Maven Pro" panose="020B0604020202020204" charset="0"/>
                <a:cs typeface="Times New Roman" panose="02020603050405020304" pitchFamily="18" charset="0"/>
              </a:rPr>
              <a:t>Random Forest</a:t>
            </a:r>
            <a:r>
              <a:rPr lang="en-IN" sz="3200" dirty="0">
                <a:latin typeface="Maven Pro" panose="020B0604020202020204" charset="0"/>
                <a:cs typeface="Times New Roman" panose="02020603050405020304" pitchFamily="18" charset="0"/>
              </a:rPr>
              <a:t>: </a:t>
            </a:r>
            <a:r>
              <a:rPr lang="en-US" sz="3000" dirty="0">
                <a:latin typeface="Maven Pro" panose="020B0604020202020204" charset="0"/>
              </a:rPr>
              <a:t>An ensemble algorithm that combines multiple decision trees using bagging to reduce overfitting and improve accuracy.</a:t>
            </a:r>
            <a:endParaRPr lang="en-IN" sz="3000" dirty="0">
              <a:latin typeface="Maven Pro" panose="020B0604020202020204" charset="0"/>
              <a:cs typeface="Times New Roman" panose="02020603050405020304" pitchFamily="18" charset="0"/>
            </a:endParaRPr>
          </a:p>
          <a:p>
            <a:pPr marL="345441" lvl="1" algn="just">
              <a:lnSpc>
                <a:spcPts val="4480"/>
              </a:lnSpc>
            </a:pPr>
            <a:endParaRPr lang="en-US" sz="3200" b="1" dirty="0">
              <a:solidFill>
                <a:srgbClr val="252930"/>
              </a:solidFill>
              <a:latin typeface="Maven Pro"/>
              <a:ea typeface="Maven Pro"/>
              <a:cs typeface="Maven Pro"/>
              <a:sym typeface="Maven Pro"/>
            </a:endParaRPr>
          </a:p>
        </p:txBody>
      </p:sp>
      <p:sp>
        <p:nvSpPr>
          <p:cNvPr id="5" name="Freeform 5"/>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630400" y="9254613"/>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766051C0-C4FD-C6F0-7E27-11B28B9F1578}"/>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1705A04B-EA45-3642-C198-11B4DA7B190D}"/>
              </a:ext>
            </a:extLst>
          </p:cNvPr>
          <p:cNvSpPr/>
          <p:nvPr/>
        </p:nvSpPr>
        <p:spPr>
          <a:xfrm>
            <a:off x="14400478" y="9006949"/>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a:extLst>
              <a:ext uri="{FF2B5EF4-FFF2-40B4-BE49-F238E27FC236}">
                <a16:creationId xmlns:a16="http://schemas.microsoft.com/office/drawing/2014/main" id="{A9E86CC0-1B9F-5E31-19E1-9D399C8F920A}"/>
              </a:ext>
            </a:extLst>
          </p:cNvPr>
          <p:cNvSpPr txBox="1"/>
          <p:nvPr/>
        </p:nvSpPr>
        <p:spPr>
          <a:xfrm>
            <a:off x="3148885" y="1515800"/>
            <a:ext cx="10871034" cy="835550"/>
          </a:xfrm>
          <a:prstGeom prst="rect">
            <a:avLst/>
          </a:prstGeom>
        </p:spPr>
        <p:txBody>
          <a:bodyPr wrap="square" lIns="0" tIns="0" rIns="0" bIns="0" rtlCol="0" anchor="t">
            <a:spAutoFit/>
          </a:bodyPr>
          <a:lstStyle/>
          <a:p>
            <a:pPr algn="ctr">
              <a:lnSpc>
                <a:spcPts val="6400"/>
              </a:lnSpc>
            </a:pPr>
            <a:r>
              <a:rPr lang="en-US" sz="8000" b="1" dirty="0">
                <a:solidFill>
                  <a:srgbClr val="252930"/>
                </a:solidFill>
                <a:latin typeface="Maven Pro Bold"/>
                <a:ea typeface="Maven Pro Bold"/>
                <a:cs typeface="Maven Pro Bold"/>
                <a:sym typeface="Maven Pro Bold"/>
              </a:rPr>
              <a:t>PROPOSED SYSTEMS</a:t>
            </a:r>
          </a:p>
        </p:txBody>
      </p:sp>
      <p:sp>
        <p:nvSpPr>
          <p:cNvPr id="3" name="TextBox 3">
            <a:extLst>
              <a:ext uri="{FF2B5EF4-FFF2-40B4-BE49-F238E27FC236}">
                <a16:creationId xmlns:a16="http://schemas.microsoft.com/office/drawing/2014/main" id="{C55BD328-906E-60E7-0552-059F1501AA33}"/>
              </a:ext>
            </a:extLst>
          </p:cNvPr>
          <p:cNvSpPr txBox="1"/>
          <p:nvPr/>
        </p:nvSpPr>
        <p:spPr>
          <a:xfrm>
            <a:off x="2813344" y="2587077"/>
            <a:ext cx="11969456" cy="6863225"/>
          </a:xfrm>
          <a:prstGeom prst="rect">
            <a:avLst/>
          </a:prstGeom>
        </p:spPr>
        <p:txBody>
          <a:bodyPr wrap="square" lIns="0" tIns="0" rIns="0" bIns="0" rtlCol="0" anchor="t">
            <a:spAutoFit/>
          </a:bodyPr>
          <a:lstStyle/>
          <a:p>
            <a:pPr marL="345441" lvl="1" algn="just">
              <a:lnSpc>
                <a:spcPts val="4480"/>
              </a:lnSpc>
            </a:pPr>
            <a:r>
              <a:rPr lang="en-IN" sz="3200" b="1" dirty="0">
                <a:latin typeface="Maven Pro" panose="020B0604020202020204" charset="0"/>
              </a:rPr>
              <a:t>Data-Driven Model</a:t>
            </a:r>
            <a:r>
              <a:rPr lang="en-IN" sz="3200" dirty="0">
                <a:latin typeface="Maven Pro" panose="020B0604020202020204" charset="0"/>
              </a:rPr>
              <a:t>:</a:t>
            </a:r>
          </a:p>
          <a:p>
            <a:pPr marL="345441" lvl="1" algn="just">
              <a:lnSpc>
                <a:spcPts val="4480"/>
              </a:lnSpc>
            </a:pPr>
            <a:r>
              <a:rPr lang="en-US" sz="3000" dirty="0">
                <a:latin typeface="Maven Pro" panose="020B0604020202020204" charset="0"/>
              </a:rPr>
              <a:t>Gather relevant data such as customer demographics, usage patterns, and churn history.</a:t>
            </a:r>
            <a:endParaRPr lang="en-IN" sz="3000" dirty="0">
              <a:latin typeface="Maven Pro" panose="020B0604020202020204" charset="0"/>
            </a:endParaRPr>
          </a:p>
          <a:p>
            <a:pPr marL="345441" lvl="1" algn="just">
              <a:lnSpc>
                <a:spcPts val="4480"/>
              </a:lnSpc>
            </a:pPr>
            <a:r>
              <a:rPr lang="en-IN" sz="3200" b="1" dirty="0">
                <a:latin typeface="Maven Pro" panose="020B0604020202020204" charset="0"/>
              </a:rPr>
              <a:t>Enhanced Machine Learning Approach</a:t>
            </a:r>
            <a:r>
              <a:rPr lang="en-IN" sz="3200" dirty="0">
                <a:latin typeface="Maven Pro" panose="020B0604020202020204" charset="0"/>
              </a:rPr>
              <a:t>:</a:t>
            </a:r>
          </a:p>
          <a:p>
            <a:pPr marL="345441" lvl="1" algn="just">
              <a:lnSpc>
                <a:spcPts val="4480"/>
              </a:lnSpc>
            </a:pPr>
            <a:r>
              <a:rPr lang="en-US" sz="3000" dirty="0">
                <a:latin typeface="Maven Pro" panose="020B0604020202020204" charset="0"/>
              </a:rPr>
              <a:t>Perform model evaluation using metrics such as Accuracy, Precision, Recall, and F2 Score.</a:t>
            </a:r>
            <a:endParaRPr lang="en-IN" sz="3000" dirty="0">
              <a:latin typeface="Maven Pro" panose="020B0604020202020204" charset="0"/>
            </a:endParaRPr>
          </a:p>
          <a:p>
            <a:pPr marL="345441" lvl="1" algn="just">
              <a:lnSpc>
                <a:spcPts val="4480"/>
              </a:lnSpc>
            </a:pPr>
            <a:r>
              <a:rPr lang="en-IN" sz="3200" b="1" dirty="0">
                <a:latin typeface="Maven Pro" panose="020B0604020202020204" charset="0"/>
              </a:rPr>
              <a:t>Advanced Optimization Techniques</a:t>
            </a:r>
            <a:r>
              <a:rPr lang="en-IN" sz="3200" dirty="0">
                <a:latin typeface="Maven Pro" panose="020B0604020202020204" charset="0"/>
              </a:rPr>
              <a:t>:</a:t>
            </a:r>
          </a:p>
          <a:p>
            <a:pPr marL="345441" lvl="1" algn="just">
              <a:lnSpc>
                <a:spcPts val="4480"/>
              </a:lnSpc>
            </a:pPr>
            <a:r>
              <a:rPr lang="en-US" sz="3000" dirty="0">
                <a:latin typeface="Maven Pro" panose="020B0604020202020204" charset="0"/>
              </a:rPr>
              <a:t>Handle class imbalance using resampling techniques like SMOTE.</a:t>
            </a:r>
          </a:p>
          <a:p>
            <a:pPr marL="345441" lvl="1" algn="just">
              <a:lnSpc>
                <a:spcPts val="4480"/>
              </a:lnSpc>
            </a:pPr>
            <a:endParaRPr lang="en-US" sz="3000" b="1" dirty="0">
              <a:solidFill>
                <a:srgbClr val="252930"/>
              </a:solidFill>
              <a:latin typeface="Maven Pro" panose="020B0604020202020204" charset="0"/>
              <a:ea typeface="Maven Pro"/>
              <a:cs typeface="Maven Pro"/>
              <a:sym typeface="Maven Pro"/>
            </a:endParaRPr>
          </a:p>
          <a:p>
            <a:pPr marL="345441" lvl="1" algn="just">
              <a:lnSpc>
                <a:spcPts val="4480"/>
              </a:lnSpc>
            </a:pPr>
            <a:r>
              <a:rPr lang="en-US" sz="3000" b="1" dirty="0">
                <a:solidFill>
                  <a:srgbClr val="252930"/>
                </a:solidFill>
                <a:latin typeface="Maven Pro" panose="020B0604020202020204" charset="0"/>
                <a:ea typeface="Maven Pro"/>
                <a:cs typeface="Maven Pro"/>
                <a:sym typeface="Maven Pro"/>
              </a:rPr>
              <a:t>Merits:</a:t>
            </a:r>
          </a:p>
          <a:p>
            <a:pPr marL="802641" lvl="1" indent="-457200" algn="just">
              <a:lnSpc>
                <a:spcPts val="4480"/>
              </a:lnSpc>
              <a:buFont typeface="Arial" panose="020B0604020202020204" pitchFamily="34" charset="0"/>
              <a:buChar char="•"/>
            </a:pPr>
            <a:r>
              <a:rPr lang="en-US" sz="3000" dirty="0">
                <a:latin typeface="Maven Pro" panose="020B0604020202020204" charset="0"/>
              </a:rPr>
              <a:t>Improved Feature Selection and Handling Class Imbalance</a:t>
            </a:r>
            <a:endParaRPr lang="en-US" sz="3000" b="1" dirty="0">
              <a:solidFill>
                <a:srgbClr val="252930"/>
              </a:solidFill>
              <a:latin typeface="Maven Pro" panose="020B0604020202020204" charset="0"/>
              <a:sym typeface="Maven Pro"/>
            </a:endParaRPr>
          </a:p>
          <a:p>
            <a:pPr marL="802641" lvl="1" indent="-457200" algn="just">
              <a:lnSpc>
                <a:spcPts val="4480"/>
              </a:lnSpc>
              <a:buFont typeface="Arial" panose="020B0604020202020204" pitchFamily="34" charset="0"/>
              <a:buChar char="•"/>
            </a:pPr>
            <a:r>
              <a:rPr lang="en-US" sz="3000" dirty="0">
                <a:latin typeface="Maven Pro" panose="020B0604020202020204" charset="0"/>
              </a:rPr>
              <a:t>Dynamic and Adaptive Model Updates</a:t>
            </a:r>
            <a:endParaRPr lang="en-US" sz="3000" b="1" dirty="0">
              <a:solidFill>
                <a:srgbClr val="252930"/>
              </a:solidFill>
              <a:latin typeface="Maven Pro" panose="020B0604020202020204" charset="0"/>
              <a:ea typeface="Maven Pro"/>
              <a:cs typeface="Maven Pro"/>
              <a:sym typeface="Maven Pro"/>
            </a:endParaRPr>
          </a:p>
        </p:txBody>
      </p:sp>
      <p:sp>
        <p:nvSpPr>
          <p:cNvPr id="5" name="Freeform 5">
            <a:extLst>
              <a:ext uri="{FF2B5EF4-FFF2-40B4-BE49-F238E27FC236}">
                <a16:creationId xmlns:a16="http://schemas.microsoft.com/office/drawing/2014/main" id="{D2586B0D-71DB-5F16-7E0B-E4E35592626E}"/>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2E049F6C-746D-F8C7-5E69-E08B78244043}"/>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003392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3581400" y="495300"/>
            <a:ext cx="10373532" cy="835550"/>
          </a:xfrm>
          <a:prstGeom prst="rect">
            <a:avLst/>
          </a:prstGeom>
        </p:spPr>
        <p:txBody>
          <a:bodyPr wrap="square"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USE CASE DIAGRAM</a:t>
            </a:r>
          </a:p>
        </p:txBody>
      </p:sp>
      <p:sp>
        <p:nvSpPr>
          <p:cNvPr id="6" name="Freeform 6"/>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8" name="Picture 7">
            <a:extLst>
              <a:ext uri="{FF2B5EF4-FFF2-40B4-BE49-F238E27FC236}">
                <a16:creationId xmlns:a16="http://schemas.microsoft.com/office/drawing/2014/main" id="{B3B1A2F3-CCC9-AED6-35AC-2E02062FB50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209800" y="1330850"/>
            <a:ext cx="12039600" cy="9054427"/>
          </a:xfrm>
          <a:prstGeom prst="rect">
            <a:avLst/>
          </a:prstGeom>
        </p:spPr>
      </p:pic>
      <p:sp>
        <p:nvSpPr>
          <p:cNvPr id="5" name="Freeform 5"/>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50B5C92B-685B-4F6D-7A04-C5AD506C68C7}"/>
                  </a:ext>
                </a:extLst>
              </p14:cNvPr>
              <p14:cNvContentPartPr/>
              <p14:nvPr/>
            </p14:nvContentPartPr>
            <p14:xfrm>
              <a:off x="2575937" y="6001626"/>
              <a:ext cx="360" cy="360"/>
            </p14:xfrm>
          </p:contentPart>
        </mc:Choice>
        <mc:Fallback xmlns="">
          <p:pic>
            <p:nvPicPr>
              <p:cNvPr id="11" name="Ink 10">
                <a:extLst>
                  <a:ext uri="{FF2B5EF4-FFF2-40B4-BE49-F238E27FC236}">
                    <a16:creationId xmlns:a16="http://schemas.microsoft.com/office/drawing/2014/main" id="{50B5C92B-685B-4F6D-7A04-C5AD506C68C7}"/>
                  </a:ext>
                </a:extLst>
              </p:cNvPr>
              <p:cNvPicPr/>
              <p:nvPr/>
            </p:nvPicPr>
            <p:blipFill>
              <a:blip r:embed="rId10"/>
              <a:stretch>
                <a:fillRect/>
              </a:stretch>
            </p:blipFill>
            <p:spPr>
              <a:xfrm>
                <a:off x="2569817" y="599550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AE266715-D8AA-FA5B-F3AE-7D8474F61F47}"/>
                  </a:ext>
                </a:extLst>
              </p14:cNvPr>
              <p14:cNvContentPartPr/>
              <p14:nvPr/>
            </p14:nvContentPartPr>
            <p14:xfrm>
              <a:off x="10484231" y="3003005"/>
              <a:ext cx="360" cy="360"/>
            </p14:xfrm>
          </p:contentPart>
        </mc:Choice>
        <mc:Fallback xmlns="">
          <p:pic>
            <p:nvPicPr>
              <p:cNvPr id="20" name="Ink 19">
                <a:extLst>
                  <a:ext uri="{FF2B5EF4-FFF2-40B4-BE49-F238E27FC236}">
                    <a16:creationId xmlns:a16="http://schemas.microsoft.com/office/drawing/2014/main" id="{AE266715-D8AA-FA5B-F3AE-7D8474F61F47}"/>
                  </a:ext>
                </a:extLst>
              </p:cNvPr>
              <p:cNvPicPr/>
              <p:nvPr/>
            </p:nvPicPr>
            <p:blipFill>
              <a:blip r:embed="rId10"/>
              <a:stretch>
                <a:fillRect/>
              </a:stretch>
            </p:blipFill>
            <p:spPr>
              <a:xfrm>
                <a:off x="10478111" y="29968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D65B2FA4-9A5F-A837-2F1A-CDAB78AD3F09}"/>
                  </a:ext>
                </a:extLst>
              </p14:cNvPr>
              <p14:cNvContentPartPr/>
              <p14:nvPr/>
            </p14:nvContentPartPr>
            <p14:xfrm>
              <a:off x="4852031" y="3158525"/>
              <a:ext cx="360" cy="360"/>
            </p14:xfrm>
          </p:contentPart>
        </mc:Choice>
        <mc:Fallback xmlns="">
          <p:pic>
            <p:nvPicPr>
              <p:cNvPr id="21" name="Ink 20">
                <a:extLst>
                  <a:ext uri="{FF2B5EF4-FFF2-40B4-BE49-F238E27FC236}">
                    <a16:creationId xmlns:a16="http://schemas.microsoft.com/office/drawing/2014/main" id="{D65B2FA4-9A5F-A837-2F1A-CDAB78AD3F09}"/>
                  </a:ext>
                </a:extLst>
              </p:cNvPr>
              <p:cNvPicPr/>
              <p:nvPr/>
            </p:nvPicPr>
            <p:blipFill>
              <a:blip r:embed="rId10"/>
              <a:stretch>
                <a:fillRect/>
              </a:stretch>
            </p:blipFill>
            <p:spPr>
              <a:xfrm>
                <a:off x="4845911" y="315240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B6E47D34-131A-90D4-C440-40CBC923BDD1}"/>
                  </a:ext>
                </a:extLst>
              </p14:cNvPr>
              <p14:cNvContentPartPr/>
              <p14:nvPr/>
            </p14:nvContentPartPr>
            <p14:xfrm>
              <a:off x="3316422" y="9608056"/>
              <a:ext cx="360" cy="360"/>
            </p14:xfrm>
          </p:contentPart>
        </mc:Choice>
        <mc:Fallback xmlns="">
          <p:pic>
            <p:nvPicPr>
              <p:cNvPr id="22" name="Ink 21">
                <a:extLst>
                  <a:ext uri="{FF2B5EF4-FFF2-40B4-BE49-F238E27FC236}">
                    <a16:creationId xmlns:a16="http://schemas.microsoft.com/office/drawing/2014/main" id="{B6E47D34-131A-90D4-C440-40CBC923BDD1}"/>
                  </a:ext>
                </a:extLst>
              </p:cNvPr>
              <p:cNvPicPr/>
              <p:nvPr/>
            </p:nvPicPr>
            <p:blipFill>
              <a:blip r:embed="rId10"/>
              <a:stretch>
                <a:fillRect/>
              </a:stretch>
            </p:blipFill>
            <p:spPr>
              <a:xfrm>
                <a:off x="3310302" y="96019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E76F3BCE-DF47-CFA9-AFA6-AB133BD50DD0}"/>
                  </a:ext>
                </a:extLst>
              </p14:cNvPr>
              <p14:cNvContentPartPr/>
              <p14:nvPr/>
            </p14:nvContentPartPr>
            <p14:xfrm>
              <a:off x="10906232" y="4200921"/>
              <a:ext cx="605880" cy="2520"/>
            </p14:xfrm>
          </p:contentPart>
        </mc:Choice>
        <mc:Fallback xmlns="">
          <p:pic>
            <p:nvPicPr>
              <p:cNvPr id="23" name="Ink 22">
                <a:extLst>
                  <a:ext uri="{FF2B5EF4-FFF2-40B4-BE49-F238E27FC236}">
                    <a16:creationId xmlns:a16="http://schemas.microsoft.com/office/drawing/2014/main" id="{E76F3BCE-DF47-CFA9-AFA6-AB133BD50DD0}"/>
                  </a:ext>
                </a:extLst>
              </p:cNvPr>
              <p:cNvPicPr/>
              <p:nvPr/>
            </p:nvPicPr>
            <p:blipFill>
              <a:blip r:embed="rId15"/>
              <a:stretch>
                <a:fillRect/>
              </a:stretch>
            </p:blipFill>
            <p:spPr>
              <a:xfrm>
                <a:off x="10900112" y="4194801"/>
                <a:ext cx="618120" cy="1476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0DAB8E12-034C-A49A-36B9-EEB828981657}"/>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0FD77FE5-35D2-D6D4-BD5E-B14896107DDD}"/>
              </a:ext>
            </a:extLst>
          </p:cNvPr>
          <p:cNvSpPr/>
          <p:nvPr/>
        </p:nvSpPr>
        <p:spPr>
          <a:xfrm>
            <a:off x="14554200" y="9258300"/>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a:extLst>
              <a:ext uri="{FF2B5EF4-FFF2-40B4-BE49-F238E27FC236}">
                <a16:creationId xmlns:a16="http://schemas.microsoft.com/office/drawing/2014/main" id="{8E2C02BC-DD20-7883-3616-5E83F3C19B45}"/>
              </a:ext>
            </a:extLst>
          </p:cNvPr>
          <p:cNvSpPr txBox="1"/>
          <p:nvPr/>
        </p:nvSpPr>
        <p:spPr>
          <a:xfrm>
            <a:off x="3302166" y="495300"/>
            <a:ext cx="10871034" cy="835550"/>
          </a:xfrm>
          <a:prstGeom prst="rect">
            <a:avLst/>
          </a:prstGeom>
        </p:spPr>
        <p:txBody>
          <a:bodyPr wrap="square" lIns="0" tIns="0" rIns="0" bIns="0" rtlCol="0" anchor="t">
            <a:spAutoFit/>
          </a:bodyPr>
          <a:lstStyle/>
          <a:p>
            <a:pPr algn="ctr">
              <a:lnSpc>
                <a:spcPts val="6400"/>
              </a:lnSpc>
            </a:pPr>
            <a:r>
              <a:rPr lang="en-US" sz="8000" b="1" dirty="0">
                <a:solidFill>
                  <a:srgbClr val="252930"/>
                </a:solidFill>
                <a:latin typeface="Maven Pro Bold"/>
                <a:ea typeface="Maven Pro Bold"/>
                <a:cs typeface="Maven Pro Bold"/>
                <a:sym typeface="Maven Pro Bold"/>
              </a:rPr>
              <a:t>USE CASE DIAGRAM</a:t>
            </a:r>
          </a:p>
        </p:txBody>
      </p:sp>
      <p:sp>
        <p:nvSpPr>
          <p:cNvPr id="3" name="TextBox 3">
            <a:extLst>
              <a:ext uri="{FF2B5EF4-FFF2-40B4-BE49-F238E27FC236}">
                <a16:creationId xmlns:a16="http://schemas.microsoft.com/office/drawing/2014/main" id="{E10CF741-FDAD-8F45-2AFC-B6B4B5CFA0C6}"/>
              </a:ext>
            </a:extLst>
          </p:cNvPr>
          <p:cNvSpPr txBox="1"/>
          <p:nvPr/>
        </p:nvSpPr>
        <p:spPr>
          <a:xfrm>
            <a:off x="2752955" y="1710116"/>
            <a:ext cx="11969456" cy="6894195"/>
          </a:xfrm>
          <a:prstGeom prst="rect">
            <a:avLst/>
          </a:prstGeom>
        </p:spPr>
        <p:txBody>
          <a:bodyPr wrap="square" lIns="0" tIns="0" rIns="0" bIns="0" rtlCol="0" anchor="t">
            <a:spAutoFit/>
          </a:bodyPr>
          <a:lstStyle/>
          <a:p>
            <a:pPr algn="just"/>
            <a:r>
              <a:rPr lang="en-US" sz="3200" b="1" dirty="0">
                <a:latin typeface="Maven Pro" panose="020B0604020202020204" charset="0"/>
              </a:rPr>
              <a:t>Actors</a:t>
            </a:r>
          </a:p>
          <a:p>
            <a:pPr algn="just"/>
            <a:r>
              <a:rPr lang="en-US" sz="3200" b="1" dirty="0">
                <a:latin typeface="Maven Pro" panose="020B0604020202020204" charset="0"/>
              </a:rPr>
              <a:t>Developer</a:t>
            </a:r>
            <a:r>
              <a:rPr lang="en-US" sz="3200" dirty="0">
                <a:latin typeface="Maven Pro" panose="020B0604020202020204" charset="0"/>
              </a:rPr>
              <a:t>: The sole actor responsible for interacting with the system at different stages of model development and deployment.</a:t>
            </a:r>
          </a:p>
          <a:p>
            <a:pPr algn="just"/>
            <a:endParaRPr lang="en-US" sz="3200" dirty="0">
              <a:latin typeface="Maven Pro" panose="020B0604020202020204" charset="0"/>
            </a:endParaRPr>
          </a:p>
          <a:p>
            <a:pPr algn="just"/>
            <a:r>
              <a:rPr lang="en-IN" sz="3200" b="1" dirty="0">
                <a:latin typeface="Maven Pro" panose="020B0604020202020204" charset="0"/>
              </a:rPr>
              <a:t>Use Cases:</a:t>
            </a:r>
          </a:p>
          <a:p>
            <a:pPr marL="514350" indent="-514350" algn="just">
              <a:buFont typeface="+mj-lt"/>
              <a:buAutoNum type="arabicPeriod"/>
            </a:pPr>
            <a:r>
              <a:rPr lang="en-IN" sz="3200" dirty="0">
                <a:latin typeface="Maven Pro" panose="020B0604020202020204" charset="0"/>
              </a:rPr>
              <a:t>Import Libraries</a:t>
            </a:r>
          </a:p>
          <a:p>
            <a:pPr marL="514350" indent="-514350" algn="just">
              <a:buFont typeface="+mj-lt"/>
              <a:buAutoNum type="arabicPeriod"/>
            </a:pPr>
            <a:r>
              <a:rPr lang="en-IN" sz="3200" dirty="0">
                <a:latin typeface="Maven Pro" panose="020B0604020202020204" charset="0"/>
              </a:rPr>
              <a:t>Import Customer Churn Dataset</a:t>
            </a:r>
          </a:p>
          <a:p>
            <a:pPr marL="514350" indent="-514350" algn="just">
              <a:buFont typeface="+mj-lt"/>
              <a:buAutoNum type="arabicPeriod"/>
            </a:pPr>
            <a:r>
              <a:rPr lang="en-IN" sz="3200" dirty="0">
                <a:latin typeface="Maven Pro" panose="020B0604020202020204" charset="0"/>
              </a:rPr>
              <a:t>Data Preprocessing</a:t>
            </a:r>
          </a:p>
          <a:p>
            <a:pPr marL="514350" indent="-514350" algn="just">
              <a:buFont typeface="+mj-lt"/>
              <a:buAutoNum type="arabicPeriod"/>
            </a:pPr>
            <a:r>
              <a:rPr lang="en-US" sz="3200" dirty="0">
                <a:latin typeface="Maven Pro" panose="020B0604020202020204" charset="0"/>
              </a:rPr>
              <a:t>Build and Train the Models</a:t>
            </a:r>
            <a:endParaRPr lang="en-IN" sz="3200" dirty="0">
              <a:latin typeface="Maven Pro" panose="020B0604020202020204" charset="0"/>
            </a:endParaRPr>
          </a:p>
          <a:p>
            <a:pPr marL="514350" indent="-514350" algn="just">
              <a:buFont typeface="+mj-lt"/>
              <a:buAutoNum type="arabicPeriod"/>
            </a:pPr>
            <a:r>
              <a:rPr lang="en-US" sz="3200" dirty="0">
                <a:latin typeface="Maven Pro" panose="020B0604020202020204" charset="0"/>
              </a:rPr>
              <a:t>Test the Model and Evaluate the Results</a:t>
            </a:r>
            <a:endParaRPr lang="en-IN" sz="3200" dirty="0">
              <a:latin typeface="Maven Pro" panose="020B0604020202020204" charset="0"/>
            </a:endParaRPr>
          </a:p>
          <a:p>
            <a:pPr marL="514350" indent="-514350" algn="just">
              <a:buFont typeface="+mj-lt"/>
              <a:buAutoNum type="arabicPeriod"/>
            </a:pPr>
            <a:r>
              <a:rPr lang="en-IN" sz="3200" dirty="0">
                <a:latin typeface="Maven Pro" panose="020B0604020202020204" charset="0"/>
              </a:rPr>
              <a:t>Apply SMOTE</a:t>
            </a:r>
          </a:p>
          <a:p>
            <a:pPr marL="514350" indent="-514350" algn="just">
              <a:buFont typeface="+mj-lt"/>
              <a:buAutoNum type="arabicPeriod"/>
            </a:pPr>
            <a:r>
              <a:rPr lang="en-US" sz="3200" dirty="0">
                <a:latin typeface="Maven Pro" panose="020B0604020202020204" charset="0"/>
              </a:rPr>
              <a:t>Implement the Best Model on Test Data</a:t>
            </a:r>
            <a:endParaRPr lang="en-IN" sz="3200" dirty="0">
              <a:latin typeface="Maven Pro" panose="020B0604020202020204" charset="0"/>
            </a:endParaRPr>
          </a:p>
          <a:p>
            <a:pPr marL="514350" indent="-514350" algn="just">
              <a:buFont typeface="+mj-lt"/>
              <a:buAutoNum type="arabicPeriod"/>
            </a:pPr>
            <a:r>
              <a:rPr lang="en-IN" sz="3200" dirty="0">
                <a:latin typeface="Maven Pro" panose="020B0604020202020204" charset="0"/>
              </a:rPr>
              <a:t>Analyse Results</a:t>
            </a:r>
            <a:endParaRPr lang="en-US" sz="3200" dirty="0">
              <a:latin typeface="Maven Pro" panose="020B0604020202020204" charset="0"/>
            </a:endParaRPr>
          </a:p>
        </p:txBody>
      </p:sp>
      <p:sp>
        <p:nvSpPr>
          <p:cNvPr id="5" name="Freeform 5">
            <a:extLst>
              <a:ext uri="{FF2B5EF4-FFF2-40B4-BE49-F238E27FC236}">
                <a16:creationId xmlns:a16="http://schemas.microsoft.com/office/drawing/2014/main" id="{E42B3140-B612-A028-51FB-B894E076322B}"/>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2B2B5121-D8CC-FA45-400E-4C1D577AC613}"/>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3956050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2F551748-D710-6D0A-114A-51857B0C7F5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504DDA8-D457-EC06-12FB-8EB0F34A0793}"/>
              </a:ext>
            </a:extLst>
          </p:cNvPr>
          <p:cNvSpPr txBox="1"/>
          <p:nvPr/>
        </p:nvSpPr>
        <p:spPr>
          <a:xfrm>
            <a:off x="3581400" y="495300"/>
            <a:ext cx="10373532" cy="835550"/>
          </a:xfrm>
          <a:prstGeom prst="rect">
            <a:avLst/>
          </a:prstGeom>
        </p:spPr>
        <p:txBody>
          <a:bodyPr wrap="square"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SEQUENCE DIAGRAM</a:t>
            </a:r>
          </a:p>
        </p:txBody>
      </p:sp>
      <p:sp>
        <p:nvSpPr>
          <p:cNvPr id="6" name="Freeform 6">
            <a:extLst>
              <a:ext uri="{FF2B5EF4-FFF2-40B4-BE49-F238E27FC236}">
                <a16:creationId xmlns:a16="http://schemas.microsoft.com/office/drawing/2014/main" id="{13FCA14C-0711-8EA8-2D15-601FBED52587}"/>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8" name="Picture 7">
            <a:extLst>
              <a:ext uri="{FF2B5EF4-FFF2-40B4-BE49-F238E27FC236}">
                <a16:creationId xmlns:a16="http://schemas.microsoft.com/office/drawing/2014/main" id="{B0F0ABAC-162B-6170-FF16-E0BDEBB5D52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902850" y="1552622"/>
            <a:ext cx="8898750" cy="8878864"/>
          </a:xfrm>
          <a:prstGeom prst="rect">
            <a:avLst/>
          </a:prstGeom>
        </p:spPr>
      </p:pic>
      <p:sp>
        <p:nvSpPr>
          <p:cNvPr id="5" name="Freeform 5">
            <a:extLst>
              <a:ext uri="{FF2B5EF4-FFF2-40B4-BE49-F238E27FC236}">
                <a16:creationId xmlns:a16="http://schemas.microsoft.com/office/drawing/2014/main" id="{34E08E6E-9C15-E5FC-C86B-C3BFFE9C8FFC}"/>
              </a:ext>
            </a:extLst>
          </p:cNvPr>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273164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8D52CDE5-66AC-7C62-A6AD-0775E0E41A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5AB2640-205A-CB27-8F44-0185EC66CC84}"/>
              </a:ext>
            </a:extLst>
          </p:cNvPr>
          <p:cNvSpPr txBox="1"/>
          <p:nvPr/>
        </p:nvSpPr>
        <p:spPr>
          <a:xfrm>
            <a:off x="3302166" y="495300"/>
            <a:ext cx="10871034" cy="835550"/>
          </a:xfrm>
          <a:prstGeom prst="rect">
            <a:avLst/>
          </a:prstGeom>
        </p:spPr>
        <p:txBody>
          <a:bodyPr wrap="square"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SEQUENCE DIAGRAM</a:t>
            </a:r>
          </a:p>
        </p:txBody>
      </p:sp>
      <p:sp>
        <p:nvSpPr>
          <p:cNvPr id="3" name="TextBox 3">
            <a:extLst>
              <a:ext uri="{FF2B5EF4-FFF2-40B4-BE49-F238E27FC236}">
                <a16:creationId xmlns:a16="http://schemas.microsoft.com/office/drawing/2014/main" id="{6EB4CC23-F438-A12C-3706-42E91EDE0383}"/>
              </a:ext>
            </a:extLst>
          </p:cNvPr>
          <p:cNvSpPr txBox="1"/>
          <p:nvPr/>
        </p:nvSpPr>
        <p:spPr>
          <a:xfrm>
            <a:off x="2752955" y="1346412"/>
            <a:ext cx="11969456" cy="8617744"/>
          </a:xfrm>
          <a:prstGeom prst="rect">
            <a:avLst/>
          </a:prstGeom>
        </p:spPr>
        <p:txBody>
          <a:bodyPr wrap="square" lIns="0" tIns="0" rIns="0" bIns="0" rtlCol="0" anchor="t">
            <a:spAutoFit/>
          </a:bodyPr>
          <a:lstStyle/>
          <a:p>
            <a:pPr algn="just"/>
            <a:r>
              <a:rPr lang="en-IN" sz="3000" b="1" dirty="0">
                <a:latin typeface="Maven Pro" panose="020B0604020202020204" charset="0"/>
              </a:rPr>
              <a:t>Sequence of Steps:</a:t>
            </a:r>
          </a:p>
          <a:p>
            <a:pPr marL="514350" indent="-514350" algn="just">
              <a:buFont typeface="+mj-lt"/>
              <a:buAutoNum type="arabicPeriod"/>
            </a:pPr>
            <a:r>
              <a:rPr lang="en-IN" sz="2800" b="1" dirty="0">
                <a:latin typeface="Maven Pro" panose="020B0604020202020204" charset="0"/>
              </a:rPr>
              <a:t>Import Libraries: </a:t>
            </a:r>
            <a:r>
              <a:rPr lang="en-US" sz="2800" dirty="0">
                <a:latin typeface="Maven Pro" panose="020B0604020202020204" charset="0"/>
              </a:rPr>
              <a:t>Developer initiates the import of required libraries for data manipulation and machine learning.</a:t>
            </a:r>
            <a:endParaRPr lang="en-IN" sz="2800" dirty="0">
              <a:latin typeface="Maven Pro" panose="020B0604020202020204" charset="0"/>
            </a:endParaRPr>
          </a:p>
          <a:p>
            <a:pPr marL="514350" indent="-514350" algn="just">
              <a:buFont typeface="+mj-lt"/>
              <a:buAutoNum type="arabicPeriod"/>
            </a:pPr>
            <a:r>
              <a:rPr lang="en-IN" sz="2800" b="1" dirty="0">
                <a:latin typeface="Maven Pro" panose="020B0604020202020204" charset="0"/>
              </a:rPr>
              <a:t>Import Customer Churn Dataset: </a:t>
            </a:r>
            <a:r>
              <a:rPr lang="en-US" sz="2800" dirty="0">
                <a:latin typeface="Maven Pro" panose="020B0604020202020204" charset="0"/>
              </a:rPr>
              <a:t>The developer uploads the dataset, and the system processes the request.</a:t>
            </a:r>
            <a:endParaRPr lang="en-IN" sz="2800" dirty="0">
              <a:latin typeface="Maven Pro" panose="020B0604020202020204" charset="0"/>
            </a:endParaRPr>
          </a:p>
          <a:p>
            <a:pPr marL="514350" indent="-514350" algn="just">
              <a:buFont typeface="+mj-lt"/>
              <a:buAutoNum type="arabicPeriod"/>
            </a:pPr>
            <a:r>
              <a:rPr lang="en-IN" sz="2800" b="1" dirty="0">
                <a:latin typeface="Maven Pro" panose="020B0604020202020204" charset="0"/>
              </a:rPr>
              <a:t>Data Preprocessing: </a:t>
            </a:r>
            <a:r>
              <a:rPr lang="en-US" sz="2800" dirty="0">
                <a:latin typeface="Maven Pro" panose="020B0604020202020204" charset="0"/>
              </a:rPr>
              <a:t>The developer commands data preprocessing. The system completes preprocessing and returns confirmation ("Data preprocessing done").</a:t>
            </a:r>
            <a:endParaRPr lang="en-IN" sz="2800" dirty="0">
              <a:latin typeface="Maven Pro" panose="020B0604020202020204" charset="0"/>
            </a:endParaRPr>
          </a:p>
          <a:p>
            <a:pPr marL="514350" indent="-514350" algn="just">
              <a:buFont typeface="+mj-lt"/>
              <a:buAutoNum type="arabicPeriod"/>
            </a:pPr>
            <a:r>
              <a:rPr lang="en-US" sz="2800" b="1" dirty="0">
                <a:latin typeface="Maven Pro" panose="020B0604020202020204" charset="0"/>
              </a:rPr>
              <a:t>Build and Train the Models: </a:t>
            </a:r>
            <a:r>
              <a:rPr lang="en-US" sz="2800" dirty="0">
                <a:latin typeface="Maven Pro" panose="020B0604020202020204" charset="0"/>
              </a:rPr>
              <a:t>The system builds and trains the models as instructed by the developer.</a:t>
            </a:r>
            <a:endParaRPr lang="en-IN" sz="2800" dirty="0">
              <a:latin typeface="Maven Pro" panose="020B0604020202020204" charset="0"/>
            </a:endParaRPr>
          </a:p>
          <a:p>
            <a:pPr marL="514350" indent="-514350" algn="just">
              <a:buFont typeface="+mj-lt"/>
              <a:buAutoNum type="arabicPeriod"/>
            </a:pPr>
            <a:r>
              <a:rPr lang="en-US" sz="2800" b="1" dirty="0">
                <a:latin typeface="Maven Pro" panose="020B0604020202020204" charset="0"/>
              </a:rPr>
              <a:t>Test the Model: </a:t>
            </a:r>
            <a:r>
              <a:rPr lang="en-US" sz="2800" dirty="0">
                <a:latin typeface="Maven Pro" panose="020B0604020202020204" charset="0"/>
              </a:rPr>
              <a:t>The system evaluates the trained models, providing test results back to the developer.</a:t>
            </a:r>
            <a:endParaRPr lang="en-IN" sz="2800" dirty="0">
              <a:latin typeface="Maven Pro" panose="020B0604020202020204" charset="0"/>
            </a:endParaRPr>
          </a:p>
          <a:p>
            <a:pPr marL="514350" indent="-514350" algn="just">
              <a:buFont typeface="+mj-lt"/>
              <a:buAutoNum type="arabicPeriod"/>
            </a:pPr>
            <a:r>
              <a:rPr lang="en-IN" sz="2800" b="1" dirty="0">
                <a:latin typeface="Maven Pro" panose="020B0604020202020204" charset="0"/>
              </a:rPr>
              <a:t>Apply SMOTE: </a:t>
            </a:r>
            <a:r>
              <a:rPr lang="en-US" sz="2800" dirty="0">
                <a:latin typeface="Maven Pro" panose="020B0604020202020204" charset="0"/>
              </a:rPr>
              <a:t>The developer instructs the system to address class imbalance using SMOTE.</a:t>
            </a:r>
            <a:endParaRPr lang="en-IN" sz="2800" dirty="0">
              <a:latin typeface="Maven Pro" panose="020B0604020202020204" charset="0"/>
            </a:endParaRPr>
          </a:p>
          <a:p>
            <a:pPr marL="514350" indent="-514350" algn="just">
              <a:buFont typeface="+mj-lt"/>
              <a:buAutoNum type="arabicPeriod"/>
            </a:pPr>
            <a:r>
              <a:rPr lang="en-US" sz="2800" b="1" dirty="0">
                <a:latin typeface="Maven Pro" panose="020B0604020202020204" charset="0"/>
              </a:rPr>
              <a:t>Build and Train the Model Again: </a:t>
            </a:r>
            <a:r>
              <a:rPr lang="en-US" sz="2800" dirty="0">
                <a:latin typeface="Maven Pro" panose="020B0604020202020204" charset="0"/>
              </a:rPr>
              <a:t>The model is retrained with balanced data after SMOTE application.</a:t>
            </a:r>
          </a:p>
          <a:p>
            <a:pPr marL="514350" indent="-514350" algn="just">
              <a:buFont typeface="+mj-lt"/>
              <a:buAutoNum type="arabicPeriod"/>
            </a:pPr>
            <a:r>
              <a:rPr lang="en-US" sz="2800" b="1" dirty="0">
                <a:latin typeface="Maven Pro" panose="020B0604020202020204" charset="0"/>
              </a:rPr>
              <a:t>Implement the Best Model on Test Data: </a:t>
            </a:r>
            <a:r>
              <a:rPr lang="en-US" sz="2800" dirty="0">
                <a:latin typeface="Maven Pro" panose="020B0604020202020204" charset="0"/>
              </a:rPr>
              <a:t>The developer selects the best-performing model, and the system applies it to test data.</a:t>
            </a:r>
          </a:p>
          <a:p>
            <a:pPr marL="514350" indent="-514350" algn="just">
              <a:buFont typeface="+mj-lt"/>
              <a:buAutoNum type="arabicPeriod"/>
            </a:pPr>
            <a:r>
              <a:rPr lang="en-IN" sz="2800" b="1" dirty="0">
                <a:latin typeface="Maven Pro" panose="020B0604020202020204" charset="0"/>
              </a:rPr>
              <a:t>Analyse Results: </a:t>
            </a:r>
            <a:r>
              <a:rPr lang="en-US" sz="2800" dirty="0">
                <a:latin typeface="Maven Pro" panose="020B0604020202020204" charset="0"/>
              </a:rPr>
              <a:t>The system provides the results from the best model implementation to the developer.</a:t>
            </a:r>
          </a:p>
        </p:txBody>
      </p:sp>
      <p:sp>
        <p:nvSpPr>
          <p:cNvPr id="5" name="Freeform 5">
            <a:extLst>
              <a:ext uri="{FF2B5EF4-FFF2-40B4-BE49-F238E27FC236}">
                <a16:creationId xmlns:a16="http://schemas.microsoft.com/office/drawing/2014/main" id="{3E488946-ECED-B30D-6D6C-432855B54C0C}"/>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FF2B5EF4-FFF2-40B4-BE49-F238E27FC236}">
                <a16:creationId xmlns:a16="http://schemas.microsoft.com/office/drawing/2014/main" id="{401D4E82-15AF-FA9F-5C2E-D4147E6F80C3}"/>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243840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9868169D-D215-D66C-C3A7-DB39D363C68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7DB8470-2CD0-AEB7-6A44-7017C3D3ADA1}"/>
              </a:ext>
            </a:extLst>
          </p:cNvPr>
          <p:cNvSpPr txBox="1"/>
          <p:nvPr/>
        </p:nvSpPr>
        <p:spPr>
          <a:xfrm>
            <a:off x="3581400" y="495300"/>
            <a:ext cx="10373532" cy="835550"/>
          </a:xfrm>
          <a:prstGeom prst="rect">
            <a:avLst/>
          </a:prstGeom>
        </p:spPr>
        <p:txBody>
          <a:bodyPr wrap="square"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ACTIVITY DIAGRAM</a:t>
            </a:r>
          </a:p>
        </p:txBody>
      </p:sp>
      <p:sp>
        <p:nvSpPr>
          <p:cNvPr id="6" name="Freeform 6">
            <a:extLst>
              <a:ext uri="{FF2B5EF4-FFF2-40B4-BE49-F238E27FC236}">
                <a16:creationId xmlns:a16="http://schemas.microsoft.com/office/drawing/2014/main" id="{9E46746E-6F14-0BA7-1527-F8A0919C4215}"/>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8" name="Picture 7">
            <a:extLst>
              <a:ext uri="{FF2B5EF4-FFF2-40B4-BE49-F238E27FC236}">
                <a16:creationId xmlns:a16="http://schemas.microsoft.com/office/drawing/2014/main" id="{78606D4D-876A-D844-AFF0-82BC123EE50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06572" y="1201312"/>
            <a:ext cx="11323187" cy="9085688"/>
          </a:xfrm>
          <a:prstGeom prst="rect">
            <a:avLst/>
          </a:prstGeom>
        </p:spPr>
      </p:pic>
      <p:sp>
        <p:nvSpPr>
          <p:cNvPr id="5" name="Freeform 5">
            <a:extLst>
              <a:ext uri="{FF2B5EF4-FFF2-40B4-BE49-F238E27FC236}">
                <a16:creationId xmlns:a16="http://schemas.microsoft.com/office/drawing/2014/main" id="{10BD7706-E042-3AF8-77AD-8D96357C37FF}"/>
              </a:ext>
            </a:extLst>
          </p:cNvPr>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329363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3C345D1D-509D-0606-B905-C9C16B0AAD3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EAA3267-7DE0-A196-8C04-AA3735660AA7}"/>
              </a:ext>
            </a:extLst>
          </p:cNvPr>
          <p:cNvSpPr txBox="1"/>
          <p:nvPr/>
        </p:nvSpPr>
        <p:spPr>
          <a:xfrm>
            <a:off x="3302166" y="495300"/>
            <a:ext cx="10871034" cy="835550"/>
          </a:xfrm>
          <a:prstGeom prst="rect">
            <a:avLst/>
          </a:prstGeom>
        </p:spPr>
        <p:txBody>
          <a:bodyPr wrap="square"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ACTIVITY DIAGRAM</a:t>
            </a:r>
          </a:p>
        </p:txBody>
      </p:sp>
      <p:sp>
        <p:nvSpPr>
          <p:cNvPr id="3" name="TextBox 3">
            <a:extLst>
              <a:ext uri="{FF2B5EF4-FFF2-40B4-BE49-F238E27FC236}">
                <a16:creationId xmlns:a16="http://schemas.microsoft.com/office/drawing/2014/main" id="{3A36AB6D-DABF-7E45-E3AC-8683051AEC1B}"/>
              </a:ext>
            </a:extLst>
          </p:cNvPr>
          <p:cNvSpPr txBox="1"/>
          <p:nvPr/>
        </p:nvSpPr>
        <p:spPr>
          <a:xfrm>
            <a:off x="2752955" y="1346412"/>
            <a:ext cx="11969456" cy="8617744"/>
          </a:xfrm>
          <a:prstGeom prst="rect">
            <a:avLst/>
          </a:prstGeom>
        </p:spPr>
        <p:txBody>
          <a:bodyPr wrap="square" lIns="0" tIns="0" rIns="0" bIns="0" rtlCol="0" anchor="t">
            <a:spAutoFit/>
          </a:bodyPr>
          <a:lstStyle/>
          <a:p>
            <a:pPr algn="just"/>
            <a:r>
              <a:rPr lang="en-IN" sz="3000" b="1" dirty="0">
                <a:latin typeface="Maven Pro" panose="020B0604020202020204" charset="0"/>
              </a:rPr>
              <a:t>Flow of Activities:</a:t>
            </a:r>
          </a:p>
          <a:p>
            <a:pPr marL="514350" indent="-514350" algn="just">
              <a:buFont typeface="+mj-lt"/>
              <a:buAutoNum type="arabicPeriod"/>
            </a:pPr>
            <a:r>
              <a:rPr lang="en-IN" sz="2800" b="1" dirty="0">
                <a:latin typeface="Maven Pro" panose="020B0604020202020204" charset="0"/>
              </a:rPr>
              <a:t>Import Libraries: </a:t>
            </a:r>
            <a:r>
              <a:rPr lang="en-US" sz="2800" dirty="0">
                <a:latin typeface="Maven Pro" panose="020B0604020202020204" charset="0"/>
              </a:rPr>
              <a:t>Developer initiates the import of required libraries for data manipulation and machine learning.</a:t>
            </a:r>
            <a:endParaRPr lang="en-IN" sz="2800" dirty="0">
              <a:latin typeface="Maven Pro" panose="020B0604020202020204" charset="0"/>
            </a:endParaRPr>
          </a:p>
          <a:p>
            <a:pPr marL="514350" indent="-514350" algn="just">
              <a:buFont typeface="+mj-lt"/>
              <a:buAutoNum type="arabicPeriod"/>
            </a:pPr>
            <a:r>
              <a:rPr lang="en-IN" sz="2800" b="1" dirty="0">
                <a:latin typeface="Maven Pro" panose="020B0604020202020204" charset="0"/>
              </a:rPr>
              <a:t>Import Customer Churn Dataset: </a:t>
            </a:r>
            <a:r>
              <a:rPr lang="en-US" sz="2800" dirty="0">
                <a:latin typeface="Maven Pro" panose="020B0604020202020204" charset="0"/>
              </a:rPr>
              <a:t>The developer uploads the dataset, and the system processes the request.</a:t>
            </a:r>
            <a:endParaRPr lang="en-IN" sz="2800" dirty="0">
              <a:latin typeface="Maven Pro" panose="020B0604020202020204" charset="0"/>
            </a:endParaRPr>
          </a:p>
          <a:p>
            <a:pPr marL="514350" indent="-514350" algn="just">
              <a:buFont typeface="+mj-lt"/>
              <a:buAutoNum type="arabicPeriod"/>
            </a:pPr>
            <a:r>
              <a:rPr lang="en-IN" sz="2800" b="1" dirty="0">
                <a:latin typeface="Maven Pro" panose="020B0604020202020204" charset="0"/>
              </a:rPr>
              <a:t>Data Preprocessing: </a:t>
            </a:r>
            <a:r>
              <a:rPr lang="en-US" sz="2800" dirty="0">
                <a:latin typeface="Maven Pro" panose="020B0604020202020204" charset="0"/>
              </a:rPr>
              <a:t>The developer commands data preprocessing. The system completes preprocessing and returns confirmation ("Data preprocessing done").</a:t>
            </a:r>
            <a:endParaRPr lang="en-IN" sz="2800" dirty="0">
              <a:latin typeface="Maven Pro" panose="020B0604020202020204" charset="0"/>
            </a:endParaRPr>
          </a:p>
          <a:p>
            <a:pPr marL="514350" indent="-514350" algn="just">
              <a:buFont typeface="+mj-lt"/>
              <a:buAutoNum type="arabicPeriod"/>
            </a:pPr>
            <a:r>
              <a:rPr lang="en-US" sz="2800" b="1" dirty="0">
                <a:latin typeface="Maven Pro" panose="020B0604020202020204" charset="0"/>
              </a:rPr>
              <a:t>Build and Train the Models: </a:t>
            </a:r>
            <a:r>
              <a:rPr lang="en-US" sz="2800" dirty="0">
                <a:latin typeface="Maven Pro" panose="020B0604020202020204" charset="0"/>
              </a:rPr>
              <a:t>The system builds and trains the models as instructed by the developer.</a:t>
            </a:r>
            <a:endParaRPr lang="en-IN" sz="2800" dirty="0">
              <a:latin typeface="Maven Pro" panose="020B0604020202020204" charset="0"/>
            </a:endParaRPr>
          </a:p>
          <a:p>
            <a:pPr marL="514350" indent="-514350" algn="just">
              <a:buFont typeface="+mj-lt"/>
              <a:buAutoNum type="arabicPeriod"/>
            </a:pPr>
            <a:r>
              <a:rPr lang="en-US" sz="2800" b="1" dirty="0">
                <a:latin typeface="Maven Pro" panose="020B0604020202020204" charset="0"/>
              </a:rPr>
              <a:t>Test the Model: </a:t>
            </a:r>
            <a:r>
              <a:rPr lang="en-US" sz="2800" dirty="0">
                <a:latin typeface="Maven Pro" panose="020B0604020202020204" charset="0"/>
              </a:rPr>
              <a:t>The system evaluates the trained models, providing test results back to the developer.</a:t>
            </a:r>
            <a:endParaRPr lang="en-IN" sz="2800" dirty="0">
              <a:latin typeface="Maven Pro" panose="020B0604020202020204" charset="0"/>
            </a:endParaRPr>
          </a:p>
          <a:p>
            <a:pPr marL="514350" indent="-514350" algn="just">
              <a:buFont typeface="+mj-lt"/>
              <a:buAutoNum type="arabicPeriod"/>
            </a:pPr>
            <a:r>
              <a:rPr lang="en-IN" sz="2800" b="1" dirty="0">
                <a:latin typeface="Maven Pro" panose="020B0604020202020204" charset="0"/>
              </a:rPr>
              <a:t>Apply SMOTE: </a:t>
            </a:r>
            <a:r>
              <a:rPr lang="en-US" sz="2800" dirty="0">
                <a:latin typeface="Maven Pro" panose="020B0604020202020204" charset="0"/>
              </a:rPr>
              <a:t>The developer instructs the system to address class imbalance using SMOTE.</a:t>
            </a:r>
            <a:endParaRPr lang="en-IN" sz="2800" dirty="0">
              <a:latin typeface="Maven Pro" panose="020B0604020202020204" charset="0"/>
            </a:endParaRPr>
          </a:p>
          <a:p>
            <a:pPr marL="514350" indent="-514350" algn="just">
              <a:buFont typeface="+mj-lt"/>
              <a:buAutoNum type="arabicPeriod"/>
            </a:pPr>
            <a:r>
              <a:rPr lang="en-US" sz="2800" b="1" dirty="0">
                <a:latin typeface="Maven Pro" panose="020B0604020202020204" charset="0"/>
              </a:rPr>
              <a:t>Build and Train the Model Again: </a:t>
            </a:r>
            <a:r>
              <a:rPr lang="en-US" sz="2800" dirty="0">
                <a:latin typeface="Maven Pro" panose="020B0604020202020204" charset="0"/>
              </a:rPr>
              <a:t>The model is retrained with balanced data after SMOTE application.</a:t>
            </a:r>
          </a:p>
          <a:p>
            <a:pPr marL="514350" indent="-514350" algn="just">
              <a:buFont typeface="+mj-lt"/>
              <a:buAutoNum type="arabicPeriod"/>
            </a:pPr>
            <a:r>
              <a:rPr lang="en-US" sz="2800" b="1" dirty="0">
                <a:latin typeface="Maven Pro" panose="020B0604020202020204" charset="0"/>
              </a:rPr>
              <a:t>Implement the Best Model on Test Data: </a:t>
            </a:r>
            <a:r>
              <a:rPr lang="en-US" sz="2800" dirty="0">
                <a:latin typeface="Maven Pro" panose="020B0604020202020204" charset="0"/>
              </a:rPr>
              <a:t>The developer selects the best-performing model, and the system applies it to test data.</a:t>
            </a:r>
          </a:p>
          <a:p>
            <a:pPr marL="514350" indent="-514350" algn="just">
              <a:buFont typeface="+mj-lt"/>
              <a:buAutoNum type="arabicPeriod"/>
            </a:pPr>
            <a:r>
              <a:rPr lang="en-IN" sz="2800" b="1" dirty="0">
                <a:latin typeface="Maven Pro" panose="020B0604020202020204" charset="0"/>
              </a:rPr>
              <a:t>Analyse Results: </a:t>
            </a:r>
            <a:r>
              <a:rPr lang="en-US" sz="2800" dirty="0">
                <a:latin typeface="Maven Pro" panose="020B0604020202020204" charset="0"/>
              </a:rPr>
              <a:t>The system provides the results from the best model implementation to the developer.</a:t>
            </a:r>
          </a:p>
        </p:txBody>
      </p:sp>
      <p:sp>
        <p:nvSpPr>
          <p:cNvPr id="5" name="Freeform 5">
            <a:extLst>
              <a:ext uri="{FF2B5EF4-FFF2-40B4-BE49-F238E27FC236}">
                <a16:creationId xmlns:a16="http://schemas.microsoft.com/office/drawing/2014/main" id="{D3AE85D0-C694-94B3-BF3E-BAF965732D64}"/>
              </a:ext>
            </a:extLst>
          </p:cNvPr>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a:extLst>
              <a:ext uri="{FF2B5EF4-FFF2-40B4-BE49-F238E27FC236}">
                <a16:creationId xmlns:a16="http://schemas.microsoft.com/office/drawing/2014/main" id="{21A977B0-2CED-E6C7-455D-5A82AB9E9694}"/>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020380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2" name="Freeform 4">
            <a:extLst>
              <a:ext uri="{FF2B5EF4-FFF2-40B4-BE49-F238E27FC236}">
                <a16:creationId xmlns:a16="http://schemas.microsoft.com/office/drawing/2014/main" id="{44459271-EB93-1493-05BD-EC53B05DC0EA}"/>
              </a:ext>
            </a:extLst>
          </p:cNvPr>
          <p:cNvSpPr/>
          <p:nvPr/>
        </p:nvSpPr>
        <p:spPr>
          <a:xfrm>
            <a:off x="1027626" y="4973202"/>
            <a:ext cx="16230600" cy="1053653"/>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23" name="Freeform 4">
            <a:extLst>
              <a:ext uri="{FF2B5EF4-FFF2-40B4-BE49-F238E27FC236}">
                <a16:creationId xmlns:a16="http://schemas.microsoft.com/office/drawing/2014/main" id="{1A8DC656-D41C-ACB9-6B7B-F706F7503BD5}"/>
              </a:ext>
            </a:extLst>
          </p:cNvPr>
          <p:cNvSpPr/>
          <p:nvPr/>
        </p:nvSpPr>
        <p:spPr>
          <a:xfrm>
            <a:off x="1027626" y="6327774"/>
            <a:ext cx="16230600" cy="1053653"/>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24" name="Freeform 4">
            <a:extLst>
              <a:ext uri="{FF2B5EF4-FFF2-40B4-BE49-F238E27FC236}">
                <a16:creationId xmlns:a16="http://schemas.microsoft.com/office/drawing/2014/main" id="{3AD7124E-7C7A-B902-EA1F-20C8D99B2CA3}"/>
              </a:ext>
            </a:extLst>
          </p:cNvPr>
          <p:cNvSpPr/>
          <p:nvPr/>
        </p:nvSpPr>
        <p:spPr>
          <a:xfrm>
            <a:off x="1027626" y="7576776"/>
            <a:ext cx="16230600" cy="1053653"/>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25" name="Freeform 4">
            <a:extLst>
              <a:ext uri="{FF2B5EF4-FFF2-40B4-BE49-F238E27FC236}">
                <a16:creationId xmlns:a16="http://schemas.microsoft.com/office/drawing/2014/main" id="{C7E717BC-4EA0-B670-B9E9-22B1080C1F4E}"/>
              </a:ext>
            </a:extLst>
          </p:cNvPr>
          <p:cNvSpPr/>
          <p:nvPr/>
        </p:nvSpPr>
        <p:spPr>
          <a:xfrm>
            <a:off x="1027626" y="8888952"/>
            <a:ext cx="16230600" cy="1053653"/>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21" name="Freeform 4">
            <a:extLst>
              <a:ext uri="{FF2B5EF4-FFF2-40B4-BE49-F238E27FC236}">
                <a16:creationId xmlns:a16="http://schemas.microsoft.com/office/drawing/2014/main" id="{9AF23862-82A9-079C-B945-559596DCF950}"/>
              </a:ext>
            </a:extLst>
          </p:cNvPr>
          <p:cNvSpPr/>
          <p:nvPr/>
        </p:nvSpPr>
        <p:spPr>
          <a:xfrm>
            <a:off x="1028699" y="3431087"/>
            <a:ext cx="16230600" cy="1255213"/>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15" name="Freeform 15"/>
          <p:cNvSpPr/>
          <p:nvPr/>
        </p:nvSpPr>
        <p:spPr>
          <a:xfrm flipH="1">
            <a:off x="-494252" y="-644269"/>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4">
            <a:extLst>
              <a:ext uri="{FF2B5EF4-FFF2-40B4-BE49-F238E27FC236}">
                <a16:creationId xmlns:a16="http://schemas.microsoft.com/office/drawing/2014/main" id="{668050A6-F1B9-F40D-70A5-7783AC9EDD4D}"/>
              </a:ext>
            </a:extLst>
          </p:cNvPr>
          <p:cNvSpPr/>
          <p:nvPr/>
        </p:nvSpPr>
        <p:spPr>
          <a:xfrm>
            <a:off x="1028699" y="2090532"/>
            <a:ext cx="16230600" cy="1053653"/>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2" name="TextBox 2"/>
          <p:cNvSpPr txBox="1"/>
          <p:nvPr/>
        </p:nvSpPr>
        <p:spPr>
          <a:xfrm>
            <a:off x="3678234" y="168257"/>
            <a:ext cx="9705277" cy="823095"/>
          </a:xfrm>
          <a:prstGeom prst="rect">
            <a:avLst/>
          </a:prstGeom>
        </p:spPr>
        <p:txBody>
          <a:bodyPr lIns="0" tIns="0" rIns="0" bIns="0" rtlCol="0" anchor="t">
            <a:spAutoFit/>
          </a:bodyPr>
          <a:lstStyle/>
          <a:p>
            <a:pPr algn="ctr">
              <a:lnSpc>
                <a:spcPts val="5762"/>
              </a:lnSpc>
            </a:pPr>
            <a:r>
              <a:rPr lang="en-US" sz="7202" b="1" dirty="0">
                <a:solidFill>
                  <a:srgbClr val="252930"/>
                </a:solidFill>
                <a:latin typeface="Maven Pro Bold"/>
                <a:ea typeface="Maven Pro Bold"/>
                <a:cs typeface="Maven Pro Bold"/>
                <a:sym typeface="Maven Pro Bold"/>
              </a:rPr>
              <a:t>REFERENCE</a:t>
            </a:r>
          </a:p>
        </p:txBody>
      </p:sp>
      <p:sp>
        <p:nvSpPr>
          <p:cNvPr id="10" name="TextBox 10"/>
          <p:cNvSpPr txBox="1"/>
          <p:nvPr/>
        </p:nvSpPr>
        <p:spPr>
          <a:xfrm>
            <a:off x="1142999" y="2090532"/>
            <a:ext cx="16116300" cy="8186857"/>
          </a:xfrm>
          <a:prstGeom prst="rect">
            <a:avLst/>
          </a:prstGeom>
        </p:spPr>
        <p:txBody>
          <a:bodyPr wrap="square" lIns="0" tIns="0" rIns="0" bIns="0" rtlCol="0" anchor="t">
            <a:spAutoFit/>
          </a:bodyPr>
          <a:lstStyle/>
          <a:p>
            <a:pPr algn="just"/>
            <a:r>
              <a:rPr lang="en-US" sz="2800" dirty="0">
                <a:latin typeface="Maven Pro" panose="020B0604020202020204" charset="0"/>
                <a:cs typeface="Times New Roman" panose="02020603050405020304" pitchFamily="18" charset="0"/>
              </a:rPr>
              <a:t>Melik </a:t>
            </a:r>
            <a:r>
              <a:rPr lang="en-US" sz="2800" dirty="0" err="1">
                <a:latin typeface="Maven Pro" panose="020B0604020202020204" charset="0"/>
                <a:cs typeface="Times New Roman" panose="02020603050405020304" pitchFamily="18" charset="0"/>
              </a:rPr>
              <a:t>Masarifoglu</a:t>
            </a:r>
            <a:r>
              <a:rPr lang="en-US" sz="2800" dirty="0">
                <a:latin typeface="Maven Pro" panose="020B0604020202020204" charset="0"/>
                <a:cs typeface="Times New Roman" panose="02020603050405020304" pitchFamily="18" charset="0"/>
              </a:rPr>
              <a:t>, Ali Hakan </a:t>
            </a:r>
            <a:r>
              <a:rPr lang="en-US" sz="2800" dirty="0" err="1">
                <a:latin typeface="Maven Pro" panose="020B0604020202020204" charset="0"/>
                <a:cs typeface="Times New Roman" panose="02020603050405020304" pitchFamily="18" charset="0"/>
              </a:rPr>
              <a:t>Buyuklu</a:t>
            </a:r>
            <a:r>
              <a:rPr lang="en-US" sz="2800" dirty="0">
                <a:latin typeface="Maven Pro" panose="020B0604020202020204" charset="0"/>
                <a:cs typeface="Times New Roman" panose="02020603050405020304" pitchFamily="18" charset="0"/>
              </a:rPr>
              <a:t>, Applying Survival Analysis to Telecom Churn Data, American Journal of Theoretical and Applied Statistics. Volume 8, Issue 6, November 2019.</a:t>
            </a:r>
          </a:p>
          <a:p>
            <a:pPr algn="just"/>
            <a:endParaRPr lang="en-US" sz="2800" dirty="0">
              <a:solidFill>
                <a:srgbClr val="252930"/>
              </a:solidFill>
              <a:latin typeface="Maven Pro" panose="020B0604020202020204" charset="0"/>
              <a:ea typeface="Maven Pro"/>
              <a:cs typeface="Maven Pro"/>
              <a:sym typeface="Maven Pro"/>
            </a:endParaRPr>
          </a:p>
          <a:p>
            <a:pPr algn="just"/>
            <a:r>
              <a:rPr lang="en-US" sz="2800" dirty="0">
                <a:solidFill>
                  <a:srgbClr val="252930"/>
                </a:solidFill>
                <a:latin typeface="Maven Pro" panose="020B0604020202020204" charset="0"/>
                <a:ea typeface="Maven Pro"/>
                <a:cs typeface="Maven Pro"/>
                <a:sym typeface="Maven Pro"/>
              </a:rPr>
              <a:t>Sharmila K. </a:t>
            </a:r>
            <a:r>
              <a:rPr lang="en-US" sz="2800" dirty="0" err="1">
                <a:solidFill>
                  <a:srgbClr val="252930"/>
                </a:solidFill>
                <a:latin typeface="Maven Pro" panose="020B0604020202020204" charset="0"/>
                <a:ea typeface="Maven Pro"/>
                <a:cs typeface="Maven Pro"/>
                <a:sym typeface="Maven Pro"/>
              </a:rPr>
              <a:t>Wagh</a:t>
            </a:r>
            <a:r>
              <a:rPr lang="en-US" sz="2800" dirty="0">
                <a:solidFill>
                  <a:srgbClr val="252930"/>
                </a:solidFill>
                <a:latin typeface="Maven Pro" panose="020B0604020202020204" charset="0"/>
                <a:ea typeface="Maven Pro"/>
                <a:cs typeface="Maven Pro"/>
                <a:sym typeface="Maven Pro"/>
              </a:rPr>
              <a:t>, Aishwarya A. </a:t>
            </a:r>
            <a:r>
              <a:rPr lang="en-US" sz="2800" dirty="0" err="1">
                <a:solidFill>
                  <a:srgbClr val="252930"/>
                </a:solidFill>
                <a:latin typeface="Maven Pro" panose="020B0604020202020204" charset="0"/>
                <a:ea typeface="Maven Pro"/>
                <a:cs typeface="Maven Pro"/>
                <a:sym typeface="Maven Pro"/>
              </a:rPr>
              <a:t>Andhale</a:t>
            </a:r>
            <a:r>
              <a:rPr lang="en-US" sz="2800" dirty="0">
                <a:solidFill>
                  <a:srgbClr val="252930"/>
                </a:solidFill>
                <a:latin typeface="Maven Pro" panose="020B0604020202020204" charset="0"/>
                <a:ea typeface="Maven Pro"/>
                <a:cs typeface="Maven Pro"/>
                <a:sym typeface="Maven Pro"/>
              </a:rPr>
              <a:t> , Kishor S. </a:t>
            </a:r>
            <a:r>
              <a:rPr lang="en-US" sz="2800" dirty="0" err="1">
                <a:solidFill>
                  <a:srgbClr val="252930"/>
                </a:solidFill>
                <a:latin typeface="Maven Pro" panose="020B0604020202020204" charset="0"/>
                <a:ea typeface="Maven Pro"/>
                <a:cs typeface="Maven Pro"/>
                <a:sym typeface="Maven Pro"/>
              </a:rPr>
              <a:t>Wagh</a:t>
            </a:r>
            <a:r>
              <a:rPr lang="en-US" sz="2800" dirty="0">
                <a:solidFill>
                  <a:srgbClr val="252930"/>
                </a:solidFill>
                <a:latin typeface="Maven Pro" panose="020B0604020202020204" charset="0"/>
                <a:ea typeface="Maven Pro"/>
                <a:cs typeface="Maven Pro"/>
                <a:sym typeface="Maven Pro"/>
              </a:rPr>
              <a:t> , Jayshree R. Pansare, Sarita P. </a:t>
            </a:r>
            <a:r>
              <a:rPr lang="en-US" sz="2800" dirty="0" err="1">
                <a:solidFill>
                  <a:srgbClr val="252930"/>
                </a:solidFill>
                <a:latin typeface="Maven Pro" panose="020B0604020202020204" charset="0"/>
                <a:ea typeface="Maven Pro"/>
                <a:cs typeface="Maven Pro"/>
                <a:sym typeface="Maven Pro"/>
              </a:rPr>
              <a:t>Ambadekar</a:t>
            </a:r>
            <a:r>
              <a:rPr lang="en-US" sz="2800" dirty="0">
                <a:solidFill>
                  <a:srgbClr val="252930"/>
                </a:solidFill>
                <a:latin typeface="Maven Pro" panose="020B0604020202020204" charset="0"/>
                <a:ea typeface="Maven Pro"/>
                <a:cs typeface="Maven Pro"/>
                <a:sym typeface="Maven Pro"/>
              </a:rPr>
              <a:t> , S.H. Gawande, </a:t>
            </a:r>
            <a:r>
              <a:rPr lang="en-US" sz="2800" dirty="0">
                <a:latin typeface="Maven Pro" panose="020B0604020202020204" charset="0"/>
              </a:rPr>
              <a:t>Customer churn prediction in telecom sector using machine learning techniques </a:t>
            </a:r>
            <a:endParaRPr lang="en-US" sz="2800" dirty="0">
              <a:solidFill>
                <a:srgbClr val="252930"/>
              </a:solidFill>
              <a:latin typeface="Maven Pro" panose="020B0604020202020204" charset="0"/>
              <a:ea typeface="Maven Pro"/>
              <a:cs typeface="Maven Pro"/>
              <a:sym typeface="Maven Pro"/>
            </a:endParaRPr>
          </a:p>
          <a:p>
            <a:pPr algn="just"/>
            <a:endParaRPr lang="en-US" sz="2800" dirty="0">
              <a:latin typeface="Maven Pro" panose="020B0604020202020204" charset="0"/>
              <a:cs typeface="Times New Roman" panose="02020603050405020304" pitchFamily="18" charset="0"/>
            </a:endParaRPr>
          </a:p>
          <a:p>
            <a:pPr algn="just"/>
            <a:r>
              <a:rPr lang="en-US" sz="2800" dirty="0">
                <a:latin typeface="Maven Pro" panose="020B0604020202020204" charset="0"/>
                <a:cs typeface="Times New Roman" panose="02020603050405020304" pitchFamily="18" charset="0"/>
              </a:rPr>
              <a:t>Ahmad, A.K., Jafar, A. &amp; </a:t>
            </a:r>
            <a:r>
              <a:rPr lang="en-US" sz="2800" dirty="0" err="1">
                <a:latin typeface="Maven Pro" panose="020B0604020202020204" charset="0"/>
                <a:cs typeface="Times New Roman" panose="02020603050405020304" pitchFamily="18" charset="0"/>
              </a:rPr>
              <a:t>Aljoumaa</a:t>
            </a:r>
            <a:r>
              <a:rPr lang="en-US" sz="2800" dirty="0">
                <a:latin typeface="Maven Pro" panose="020B0604020202020204" charset="0"/>
                <a:cs typeface="Times New Roman" panose="02020603050405020304" pitchFamily="18" charset="0"/>
              </a:rPr>
              <a:t>, K. Customer churn prediction in telecom using machine learning in big data platform. J Big Data 6, 28 (2019). </a:t>
            </a:r>
          </a:p>
          <a:p>
            <a:pPr algn="just"/>
            <a:endParaRPr lang="en-US" sz="2800" dirty="0">
              <a:latin typeface="Maven Pro" panose="020B0604020202020204" charset="0"/>
              <a:cs typeface="Times New Roman" panose="02020603050405020304" pitchFamily="18" charset="0"/>
            </a:endParaRPr>
          </a:p>
          <a:p>
            <a:pPr algn="just"/>
            <a:r>
              <a:rPr lang="en-US" sz="2800" dirty="0">
                <a:latin typeface="Maven Pro" panose="020B0604020202020204" charset="0"/>
                <a:cs typeface="Times New Roman" panose="02020603050405020304" pitchFamily="18" charset="0"/>
              </a:rPr>
              <a:t>Lalwani, Praveen &amp; Mishra, Manas &amp; Chadha, Jasroop &amp; Sethi, Pratyush. (2022). Customer churn prediction system: a machine learning approach Computing.</a:t>
            </a:r>
          </a:p>
          <a:p>
            <a:pPr algn="just"/>
            <a:endParaRPr lang="en-US" sz="2800" dirty="0">
              <a:latin typeface="Maven Pro" panose="020B0604020202020204" charset="0"/>
              <a:cs typeface="Times New Roman" panose="02020603050405020304" pitchFamily="18" charset="0"/>
            </a:endParaRPr>
          </a:p>
          <a:p>
            <a:pPr algn="just"/>
            <a:r>
              <a:rPr lang="en-US" sz="2800" dirty="0" err="1">
                <a:latin typeface="Maven Pro" panose="020B0604020202020204" charset="0"/>
                <a:cs typeface="Times New Roman" panose="02020603050405020304" pitchFamily="18" charset="0"/>
              </a:rPr>
              <a:t>Ascarza</a:t>
            </a:r>
            <a:r>
              <a:rPr lang="en-US" sz="2800" dirty="0">
                <a:latin typeface="Maven Pro" panose="020B0604020202020204" charset="0"/>
                <a:cs typeface="Times New Roman" panose="02020603050405020304" pitchFamily="18" charset="0"/>
              </a:rPr>
              <a:t> E, Iyengar R, Schleicher M. The perils of proactive churn prevention using plan recommendations: evidence from a field experiment. J Market Res. 2016.</a:t>
            </a:r>
          </a:p>
          <a:p>
            <a:pPr algn="just"/>
            <a:r>
              <a:rPr lang="en-US" sz="2800" dirty="0">
                <a:latin typeface="Maven Pro" panose="020B0604020202020204" charset="0"/>
                <a:cs typeface="Times New Roman" panose="02020603050405020304" pitchFamily="18" charset="0"/>
              </a:rPr>
              <a:t> </a:t>
            </a:r>
          </a:p>
          <a:p>
            <a:pPr algn="just"/>
            <a:r>
              <a:rPr lang="en-US" sz="2800" dirty="0">
                <a:latin typeface="Maven Pro" panose="020B0604020202020204" charset="0"/>
                <a:cs typeface="Times New Roman" panose="02020603050405020304" pitchFamily="18" charset="0"/>
              </a:rPr>
              <a:t>Benjamin Ghaffari &amp; Yasin Osman, Customer churn prediction using machine learning A study in the B2B subscription-based service context (2021).</a:t>
            </a:r>
          </a:p>
          <a:p>
            <a:pPr algn="just"/>
            <a:endParaRPr lang="en-US" sz="2800" dirty="0">
              <a:latin typeface="Maven Pro" panose="020B0604020202020204" charset="0"/>
              <a:cs typeface="Times New Roman" panose="02020603050405020304" pitchFamily="18" charset="0"/>
            </a:endParaRPr>
          </a:p>
        </p:txBody>
      </p:sp>
      <p:sp>
        <p:nvSpPr>
          <p:cNvPr id="16" name="Freeform 16"/>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667000" y="4247793"/>
            <a:ext cx="12779699" cy="1791414"/>
          </a:xfrm>
          <a:prstGeom prst="rect">
            <a:avLst/>
          </a:prstGeom>
        </p:spPr>
        <p:txBody>
          <a:bodyPr lIns="0" tIns="0" rIns="0" bIns="0" rtlCol="0" anchor="t">
            <a:spAutoFit/>
          </a:bodyPr>
          <a:lstStyle/>
          <a:p>
            <a:pPr algn="ctr">
              <a:lnSpc>
                <a:spcPts val="12435"/>
              </a:lnSpc>
            </a:pPr>
            <a:r>
              <a:rPr lang="en-US" sz="15544" b="1" dirty="0">
                <a:solidFill>
                  <a:srgbClr val="252D37"/>
                </a:solidFill>
                <a:latin typeface="Maven Pro Bold"/>
                <a:ea typeface="Maven Pro Bold"/>
                <a:cs typeface="Maven Pro Bold"/>
                <a:sym typeface="Maven Pro Bold"/>
              </a:rPr>
              <a:t>Thank You</a:t>
            </a:r>
          </a:p>
        </p:txBody>
      </p:sp>
      <p:sp>
        <p:nvSpPr>
          <p:cNvPr id="4" name="Freeform 4"/>
          <p:cNvSpPr/>
          <p:nvPr/>
        </p:nvSpPr>
        <p:spPr>
          <a:xfrm>
            <a:off x="0" y="6974593"/>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13969" y="8304597"/>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10800000">
            <a:off x="17582856" y="118636"/>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10800000">
            <a:off x="12517066" y="-114300"/>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TotalTime>
  <Words>2230</Words>
  <Application>Microsoft Office PowerPoint</Application>
  <PresentationFormat>Custom</PresentationFormat>
  <Paragraphs>253</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Maven Pro Bold</vt:lpstr>
      <vt:lpstr>Calibri</vt:lpstr>
      <vt:lpstr>Maven Pro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Ivory Black Simple Geometric Research Project Presentation</dc:title>
  <dc:creator>Manikanta S V</dc:creator>
  <cp:lastModifiedBy>Syed Asmath</cp:lastModifiedBy>
  <cp:revision>6</cp:revision>
  <dcterms:created xsi:type="dcterms:W3CDTF">2006-08-16T00:00:00Z</dcterms:created>
  <dcterms:modified xsi:type="dcterms:W3CDTF">2025-03-05T18:07:58Z</dcterms:modified>
  <dc:identifier>DAGaB-_kBRw</dc:identifier>
</cp:coreProperties>
</file>