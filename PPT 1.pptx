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sldIdLst>
    <p:sldId id="256" r:id="rId2"/>
    <p:sldId id="257" r:id="rId3"/>
    <p:sldId id="274" r:id="rId4"/>
    <p:sldId id="273" r:id="rId5"/>
    <p:sldId id="259" r:id="rId6"/>
    <p:sldId id="261" r:id="rId7"/>
    <p:sldId id="264" r:id="rId8"/>
    <p:sldId id="270" r:id="rId9"/>
    <p:sldId id="266" r:id="rId10"/>
    <p:sldId id="268" r:id="rId11"/>
    <p:sldId id="26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736DAE-97F1-47BE-8AE9-83147B19BE12}" v="1" dt="2024-10-06T13:33:47.474"/>
    <p1510:client id="{E4406CC9-68FF-4BD6-87C9-6BD055F46216}" v="2" dt="2024-10-06T12:21:03.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kanta S V" userId="0405588977a0a8bd" providerId="LiveId" clId="{E4406CC9-68FF-4BD6-87C9-6BD055F46216}"/>
    <pc:docChg chg="custSel addSld delSld modSld sldOrd">
      <pc:chgData name="Manikanta S V" userId="0405588977a0a8bd" providerId="LiveId" clId="{E4406CC9-68FF-4BD6-87C9-6BD055F46216}" dt="2024-10-06T12:25:52.181" v="104" actId="122"/>
      <pc:docMkLst>
        <pc:docMk/>
      </pc:docMkLst>
      <pc:sldChg chg="modSp mod">
        <pc:chgData name="Manikanta S V" userId="0405588977a0a8bd" providerId="LiveId" clId="{E4406CC9-68FF-4BD6-87C9-6BD055F46216}" dt="2024-10-06T12:25:52.181" v="104" actId="122"/>
        <pc:sldMkLst>
          <pc:docMk/>
          <pc:sldMk cId="1582766178" sldId="256"/>
        </pc:sldMkLst>
        <pc:spChg chg="mod">
          <ac:chgData name="Manikanta S V" userId="0405588977a0a8bd" providerId="LiveId" clId="{E4406CC9-68FF-4BD6-87C9-6BD055F46216}" dt="2024-10-06T12:25:52.181" v="104" actId="122"/>
          <ac:spMkLst>
            <pc:docMk/>
            <pc:sldMk cId="1582766178" sldId="256"/>
            <ac:spMk id="2" creationId="{66E53088-7F1D-5FD3-DA31-FD4D503364FE}"/>
          </ac:spMkLst>
        </pc:spChg>
        <pc:spChg chg="mod">
          <ac:chgData name="Manikanta S V" userId="0405588977a0a8bd" providerId="LiveId" clId="{E4406CC9-68FF-4BD6-87C9-6BD055F46216}" dt="2024-10-06T12:21:03.322" v="3"/>
          <ac:spMkLst>
            <pc:docMk/>
            <pc:sldMk cId="1582766178" sldId="256"/>
            <ac:spMk id="3" creationId="{30F3A11C-9B3C-2752-41D6-03F15A253C07}"/>
          </ac:spMkLst>
        </pc:spChg>
      </pc:sldChg>
      <pc:sldChg chg="del">
        <pc:chgData name="Manikanta S V" userId="0405588977a0a8bd" providerId="LiveId" clId="{E4406CC9-68FF-4BD6-87C9-6BD055F46216}" dt="2024-10-06T12:23:55.738" v="29" actId="2696"/>
        <pc:sldMkLst>
          <pc:docMk/>
          <pc:sldMk cId="3069852028" sldId="258"/>
        </pc:sldMkLst>
      </pc:sldChg>
      <pc:sldChg chg="modSp mod">
        <pc:chgData name="Manikanta S V" userId="0405588977a0a8bd" providerId="LiveId" clId="{E4406CC9-68FF-4BD6-87C9-6BD055F46216}" dt="2024-10-06T12:21:03.401" v="4" actId="27636"/>
        <pc:sldMkLst>
          <pc:docMk/>
          <pc:sldMk cId="3964293547" sldId="260"/>
        </pc:sldMkLst>
        <pc:spChg chg="mod">
          <ac:chgData name="Manikanta S V" userId="0405588977a0a8bd" providerId="LiveId" clId="{E4406CC9-68FF-4BD6-87C9-6BD055F46216}" dt="2024-10-06T12:21:03.401" v="4" actId="27636"/>
          <ac:spMkLst>
            <pc:docMk/>
            <pc:sldMk cId="3964293547" sldId="260"/>
            <ac:spMk id="3" creationId="{80B19B6D-6D69-9CBC-FFF9-14835114DFA4}"/>
          </ac:spMkLst>
        </pc:spChg>
      </pc:sldChg>
      <pc:sldChg chg="modSp mod">
        <pc:chgData name="Manikanta S V" userId="0405588977a0a8bd" providerId="LiveId" clId="{E4406CC9-68FF-4BD6-87C9-6BD055F46216}" dt="2024-10-06T12:21:03.401" v="5" actId="27636"/>
        <pc:sldMkLst>
          <pc:docMk/>
          <pc:sldMk cId="2539487348" sldId="261"/>
        </pc:sldMkLst>
        <pc:spChg chg="mod">
          <ac:chgData name="Manikanta S V" userId="0405588977a0a8bd" providerId="LiveId" clId="{E4406CC9-68FF-4BD6-87C9-6BD055F46216}" dt="2024-10-06T12:21:03.401" v="5" actId="27636"/>
          <ac:spMkLst>
            <pc:docMk/>
            <pc:sldMk cId="2539487348" sldId="261"/>
            <ac:spMk id="3" creationId="{6EC13013-B24A-F269-F39E-56F90EBD1799}"/>
          </ac:spMkLst>
        </pc:spChg>
      </pc:sldChg>
      <pc:sldChg chg="modSp mod">
        <pc:chgData name="Manikanta S V" userId="0405588977a0a8bd" providerId="LiveId" clId="{E4406CC9-68FF-4BD6-87C9-6BD055F46216}" dt="2024-10-06T12:21:03.417" v="6" actId="27636"/>
        <pc:sldMkLst>
          <pc:docMk/>
          <pc:sldMk cId="1376288368" sldId="263"/>
        </pc:sldMkLst>
        <pc:spChg chg="mod">
          <ac:chgData name="Manikanta S V" userId="0405588977a0a8bd" providerId="LiveId" clId="{E4406CC9-68FF-4BD6-87C9-6BD055F46216}" dt="2024-10-06T12:21:03.417" v="6" actId="27636"/>
          <ac:spMkLst>
            <pc:docMk/>
            <pc:sldMk cId="1376288368" sldId="263"/>
            <ac:spMk id="3" creationId="{80B19B6D-6D69-9CBC-FFF9-14835114DFA4}"/>
          </ac:spMkLst>
        </pc:spChg>
      </pc:sldChg>
      <pc:sldChg chg="modSp mod">
        <pc:chgData name="Manikanta S V" userId="0405588977a0a8bd" providerId="LiveId" clId="{E4406CC9-68FF-4BD6-87C9-6BD055F46216}" dt="2024-10-06T12:21:03.417" v="8" actId="27636"/>
        <pc:sldMkLst>
          <pc:docMk/>
          <pc:sldMk cId="767721918" sldId="265"/>
        </pc:sldMkLst>
        <pc:spChg chg="mod">
          <ac:chgData name="Manikanta S V" userId="0405588977a0a8bd" providerId="LiveId" clId="{E4406CC9-68FF-4BD6-87C9-6BD055F46216}" dt="2024-10-06T12:21:03.417" v="8" actId="27636"/>
          <ac:spMkLst>
            <pc:docMk/>
            <pc:sldMk cId="767721918" sldId="265"/>
            <ac:spMk id="3" creationId="{80B19B6D-6D69-9CBC-FFF9-14835114DFA4}"/>
          </ac:spMkLst>
        </pc:spChg>
      </pc:sldChg>
      <pc:sldChg chg="modSp mod">
        <pc:chgData name="Manikanta S V" userId="0405588977a0a8bd" providerId="LiveId" clId="{E4406CC9-68FF-4BD6-87C9-6BD055F46216}" dt="2024-10-06T12:21:03.433" v="9" actId="27636"/>
        <pc:sldMkLst>
          <pc:docMk/>
          <pc:sldMk cId="438039557" sldId="268"/>
        </pc:sldMkLst>
        <pc:spChg chg="mod">
          <ac:chgData name="Manikanta S V" userId="0405588977a0a8bd" providerId="LiveId" clId="{E4406CC9-68FF-4BD6-87C9-6BD055F46216}" dt="2024-10-06T12:21:03.433" v="9" actId="27636"/>
          <ac:spMkLst>
            <pc:docMk/>
            <pc:sldMk cId="438039557" sldId="268"/>
            <ac:spMk id="3" creationId="{6EC13013-B24A-F269-F39E-56F90EBD1799}"/>
          </ac:spMkLst>
        </pc:spChg>
      </pc:sldChg>
      <pc:sldChg chg="modSp">
        <pc:chgData name="Manikanta S V" userId="0405588977a0a8bd" providerId="LiveId" clId="{E4406CC9-68FF-4BD6-87C9-6BD055F46216}" dt="2024-10-06T12:21:03.322" v="3"/>
        <pc:sldMkLst>
          <pc:docMk/>
          <pc:sldMk cId="1159585465" sldId="269"/>
        </pc:sldMkLst>
        <pc:spChg chg="mod">
          <ac:chgData name="Manikanta S V" userId="0405588977a0a8bd" providerId="LiveId" clId="{E4406CC9-68FF-4BD6-87C9-6BD055F46216}" dt="2024-10-06T12:21:03.322" v="3"/>
          <ac:spMkLst>
            <pc:docMk/>
            <pc:sldMk cId="1159585465" sldId="269"/>
            <ac:spMk id="3" creationId="{B7BC5F98-24EE-3363-B77B-F3D1A2BCAE1D}"/>
          </ac:spMkLst>
        </pc:spChg>
      </pc:sldChg>
      <pc:sldChg chg="modSp mod">
        <pc:chgData name="Manikanta S V" userId="0405588977a0a8bd" providerId="LiveId" clId="{E4406CC9-68FF-4BD6-87C9-6BD055F46216}" dt="2024-10-06T12:21:03.417" v="7" actId="27636"/>
        <pc:sldMkLst>
          <pc:docMk/>
          <pc:sldMk cId="2985356282" sldId="271"/>
        </pc:sldMkLst>
        <pc:spChg chg="mod">
          <ac:chgData name="Manikanta S V" userId="0405588977a0a8bd" providerId="LiveId" clId="{E4406CC9-68FF-4BD6-87C9-6BD055F46216}" dt="2024-10-06T12:21:03.417" v="7" actId="27636"/>
          <ac:spMkLst>
            <pc:docMk/>
            <pc:sldMk cId="2985356282" sldId="271"/>
            <ac:spMk id="3" creationId="{80B19B6D-6D69-9CBC-FFF9-14835114DFA4}"/>
          </ac:spMkLst>
        </pc:spChg>
      </pc:sldChg>
      <pc:sldChg chg="modSp add mod ord">
        <pc:chgData name="Manikanta S V" userId="0405588977a0a8bd" providerId="LiveId" clId="{E4406CC9-68FF-4BD6-87C9-6BD055F46216}" dt="2024-10-06T12:23:43.596" v="28" actId="20577"/>
        <pc:sldMkLst>
          <pc:docMk/>
          <pc:sldMk cId="3784519548" sldId="272"/>
        </pc:sldMkLst>
        <pc:spChg chg="mod">
          <ac:chgData name="Manikanta S V" userId="0405588977a0a8bd" providerId="LiveId" clId="{E4406CC9-68FF-4BD6-87C9-6BD055F46216}" dt="2024-10-06T12:23:43.596" v="28" actId="20577"/>
          <ac:spMkLst>
            <pc:docMk/>
            <pc:sldMk cId="3784519548" sldId="272"/>
            <ac:spMk id="3" creationId="{80B19B6D-6D69-9CBC-FFF9-14835114DFA4}"/>
          </ac:spMkLst>
        </pc:spChg>
      </pc:sldChg>
    </pc:docChg>
  </pc:docChgLst>
  <pc:docChgLst>
    <pc:chgData name="Syed Asmath" userId="4f688744e537bbc6" providerId="LiveId" clId="{27736DAE-97F1-47BE-8AE9-83147B19BE12}"/>
    <pc:docChg chg="undo custSel addSld delSld modSld">
      <pc:chgData name="Syed Asmath" userId="4f688744e537bbc6" providerId="LiveId" clId="{27736DAE-97F1-47BE-8AE9-83147B19BE12}" dt="2024-10-06T13:41:13.786" v="912" actId="20577"/>
      <pc:docMkLst>
        <pc:docMk/>
      </pc:docMkLst>
      <pc:sldChg chg="modSp mod">
        <pc:chgData name="Syed Asmath" userId="4f688744e537bbc6" providerId="LiveId" clId="{27736DAE-97F1-47BE-8AE9-83147B19BE12}" dt="2024-10-06T13:41:13.786" v="912" actId="20577"/>
        <pc:sldMkLst>
          <pc:docMk/>
          <pc:sldMk cId="1582766178" sldId="256"/>
        </pc:sldMkLst>
        <pc:spChg chg="mod">
          <ac:chgData name="Syed Asmath" userId="4f688744e537bbc6" providerId="LiveId" clId="{27736DAE-97F1-47BE-8AE9-83147B19BE12}" dt="2024-10-06T13:41:13.786" v="912" actId="20577"/>
          <ac:spMkLst>
            <pc:docMk/>
            <pc:sldMk cId="1582766178" sldId="256"/>
            <ac:spMk id="2" creationId="{66E53088-7F1D-5FD3-DA31-FD4D503364FE}"/>
          </ac:spMkLst>
        </pc:spChg>
        <pc:spChg chg="mod">
          <ac:chgData name="Syed Asmath" userId="4f688744e537bbc6" providerId="LiveId" clId="{27736DAE-97F1-47BE-8AE9-83147B19BE12}" dt="2024-10-06T12:37:19.012" v="117" actId="27636"/>
          <ac:spMkLst>
            <pc:docMk/>
            <pc:sldMk cId="1582766178" sldId="256"/>
            <ac:spMk id="3" creationId="{30F3A11C-9B3C-2752-41D6-03F15A253C07}"/>
          </ac:spMkLst>
        </pc:spChg>
      </pc:sldChg>
      <pc:sldChg chg="addSp delSp modSp mod">
        <pc:chgData name="Syed Asmath" userId="4f688744e537bbc6" providerId="LiveId" clId="{27736DAE-97F1-47BE-8AE9-83147B19BE12}" dt="2024-10-06T13:36:17.626" v="887" actId="20577"/>
        <pc:sldMkLst>
          <pc:docMk/>
          <pc:sldMk cId="2582961531" sldId="257"/>
        </pc:sldMkLst>
        <pc:spChg chg="mod">
          <ac:chgData name="Syed Asmath" userId="4f688744e537bbc6" providerId="LiveId" clId="{27736DAE-97F1-47BE-8AE9-83147B19BE12}" dt="2024-10-06T13:33:13.732" v="855" actId="20577"/>
          <ac:spMkLst>
            <pc:docMk/>
            <pc:sldMk cId="2582961531" sldId="257"/>
            <ac:spMk id="2" creationId="{5BEC9E06-14AB-DE77-D42C-5761C85F4B98}"/>
          </ac:spMkLst>
        </pc:spChg>
        <pc:spChg chg="del mod">
          <ac:chgData name="Syed Asmath" userId="4f688744e537bbc6" providerId="LiveId" clId="{27736DAE-97F1-47BE-8AE9-83147B19BE12}" dt="2024-10-06T13:33:47.474" v="857"/>
          <ac:spMkLst>
            <pc:docMk/>
            <pc:sldMk cId="2582961531" sldId="257"/>
            <ac:spMk id="3" creationId="{6EC13013-B24A-F269-F39E-56F90EBD1799}"/>
          </ac:spMkLst>
        </pc:spChg>
        <pc:spChg chg="add mod">
          <ac:chgData name="Syed Asmath" userId="4f688744e537bbc6" providerId="LiveId" clId="{27736DAE-97F1-47BE-8AE9-83147B19BE12}" dt="2024-10-06T13:36:17.626" v="887" actId="20577"/>
          <ac:spMkLst>
            <pc:docMk/>
            <pc:sldMk cId="2582961531" sldId="257"/>
            <ac:spMk id="7" creationId="{0711C50C-A8E6-204C-C4ED-F0043CCC4B84}"/>
          </ac:spMkLst>
        </pc:spChg>
        <pc:picChg chg="add del mod">
          <ac:chgData name="Syed Asmath" userId="4f688744e537bbc6" providerId="LiveId" clId="{27736DAE-97F1-47BE-8AE9-83147B19BE12}" dt="2024-10-06T13:33:54.498" v="859" actId="478"/>
          <ac:picMkLst>
            <pc:docMk/>
            <pc:sldMk cId="2582961531" sldId="257"/>
            <ac:picMk id="5" creationId="{775CF962-F62F-3669-DD21-34979BCC09DD}"/>
          </ac:picMkLst>
        </pc:picChg>
      </pc:sldChg>
      <pc:sldChg chg="modSp mod">
        <pc:chgData name="Syed Asmath" userId="4f688744e537bbc6" providerId="LiveId" clId="{27736DAE-97F1-47BE-8AE9-83147B19BE12}" dt="2024-10-06T13:37:27.468" v="893" actId="14100"/>
        <pc:sldMkLst>
          <pc:docMk/>
          <pc:sldMk cId="610454733" sldId="259"/>
        </pc:sldMkLst>
        <pc:spChg chg="mod">
          <ac:chgData name="Syed Asmath" userId="4f688744e537bbc6" providerId="LiveId" clId="{27736DAE-97F1-47BE-8AE9-83147B19BE12}" dt="2024-10-06T13:22:41.045" v="818" actId="255"/>
          <ac:spMkLst>
            <pc:docMk/>
            <pc:sldMk cId="610454733" sldId="259"/>
            <ac:spMk id="2" creationId="{5BEC9E06-14AB-DE77-D42C-5761C85F4B98}"/>
          </ac:spMkLst>
        </pc:spChg>
        <pc:spChg chg="mod">
          <ac:chgData name="Syed Asmath" userId="4f688744e537bbc6" providerId="LiveId" clId="{27736DAE-97F1-47BE-8AE9-83147B19BE12}" dt="2024-10-06T13:37:27.468" v="893" actId="14100"/>
          <ac:spMkLst>
            <pc:docMk/>
            <pc:sldMk cId="610454733" sldId="259"/>
            <ac:spMk id="3" creationId="{6EC13013-B24A-F269-F39E-56F90EBD1799}"/>
          </ac:spMkLst>
        </pc:spChg>
      </pc:sldChg>
      <pc:sldChg chg="modSp del mod">
        <pc:chgData name="Syed Asmath" userId="4f688744e537bbc6" providerId="LiveId" clId="{27736DAE-97F1-47BE-8AE9-83147B19BE12}" dt="2024-10-06T13:14:16.250" v="752" actId="2696"/>
        <pc:sldMkLst>
          <pc:docMk/>
          <pc:sldMk cId="3964293547" sldId="260"/>
        </pc:sldMkLst>
        <pc:spChg chg="mod">
          <ac:chgData name="Syed Asmath" userId="4f688744e537bbc6" providerId="LiveId" clId="{27736DAE-97F1-47BE-8AE9-83147B19BE12}" dt="2024-10-06T13:12:21.361" v="735" actId="1076"/>
          <ac:spMkLst>
            <pc:docMk/>
            <pc:sldMk cId="3964293547" sldId="260"/>
            <ac:spMk id="3" creationId="{80B19B6D-6D69-9CBC-FFF9-14835114DFA4}"/>
          </ac:spMkLst>
        </pc:spChg>
      </pc:sldChg>
      <pc:sldChg chg="modSp mod">
        <pc:chgData name="Syed Asmath" userId="4f688744e537bbc6" providerId="LiveId" clId="{27736DAE-97F1-47BE-8AE9-83147B19BE12}" dt="2024-10-06T13:22:51.402" v="819" actId="255"/>
        <pc:sldMkLst>
          <pc:docMk/>
          <pc:sldMk cId="2539487348" sldId="261"/>
        </pc:sldMkLst>
        <pc:spChg chg="mod">
          <ac:chgData name="Syed Asmath" userId="4f688744e537bbc6" providerId="LiveId" clId="{27736DAE-97F1-47BE-8AE9-83147B19BE12}" dt="2024-10-06T13:22:51.402" v="819" actId="255"/>
          <ac:spMkLst>
            <pc:docMk/>
            <pc:sldMk cId="2539487348" sldId="261"/>
            <ac:spMk id="2" creationId="{5BEC9E06-14AB-DE77-D42C-5761C85F4B98}"/>
          </ac:spMkLst>
        </pc:spChg>
        <pc:spChg chg="mod">
          <ac:chgData name="Syed Asmath" userId="4f688744e537bbc6" providerId="LiveId" clId="{27736DAE-97F1-47BE-8AE9-83147B19BE12}" dt="2024-10-06T13:15:09.827" v="766" actId="123"/>
          <ac:spMkLst>
            <pc:docMk/>
            <pc:sldMk cId="2539487348" sldId="261"/>
            <ac:spMk id="3" creationId="{6EC13013-B24A-F269-F39E-56F90EBD1799}"/>
          </ac:spMkLst>
        </pc:spChg>
      </pc:sldChg>
      <pc:sldChg chg="modSp del mod">
        <pc:chgData name="Syed Asmath" userId="4f688744e537bbc6" providerId="LiveId" clId="{27736DAE-97F1-47BE-8AE9-83147B19BE12}" dt="2024-10-06T13:15:22.882" v="767" actId="2696"/>
        <pc:sldMkLst>
          <pc:docMk/>
          <pc:sldMk cId="1376288368" sldId="263"/>
        </pc:sldMkLst>
        <pc:spChg chg="mod">
          <ac:chgData name="Syed Asmath" userId="4f688744e537bbc6" providerId="LiveId" clId="{27736DAE-97F1-47BE-8AE9-83147B19BE12}" dt="2024-10-06T12:49:01.217" v="511" actId="255"/>
          <ac:spMkLst>
            <pc:docMk/>
            <pc:sldMk cId="1376288368" sldId="263"/>
            <ac:spMk id="3" creationId="{80B19B6D-6D69-9CBC-FFF9-14835114DFA4}"/>
          </ac:spMkLst>
        </pc:spChg>
      </pc:sldChg>
      <pc:sldChg chg="modSp mod">
        <pc:chgData name="Syed Asmath" userId="4f688744e537bbc6" providerId="LiveId" clId="{27736DAE-97F1-47BE-8AE9-83147B19BE12}" dt="2024-10-06T13:37:55.679" v="894" actId="20577"/>
        <pc:sldMkLst>
          <pc:docMk/>
          <pc:sldMk cId="3988866743" sldId="264"/>
        </pc:sldMkLst>
        <pc:spChg chg="mod">
          <ac:chgData name="Syed Asmath" userId="4f688744e537bbc6" providerId="LiveId" clId="{27736DAE-97F1-47BE-8AE9-83147B19BE12}" dt="2024-10-06T13:23:02.897" v="820" actId="255"/>
          <ac:spMkLst>
            <pc:docMk/>
            <pc:sldMk cId="3988866743" sldId="264"/>
            <ac:spMk id="2" creationId="{5BEC9E06-14AB-DE77-D42C-5761C85F4B98}"/>
          </ac:spMkLst>
        </pc:spChg>
        <pc:spChg chg="mod">
          <ac:chgData name="Syed Asmath" userId="4f688744e537bbc6" providerId="LiveId" clId="{27736DAE-97F1-47BE-8AE9-83147B19BE12}" dt="2024-10-06T13:37:55.679" v="894" actId="20577"/>
          <ac:spMkLst>
            <pc:docMk/>
            <pc:sldMk cId="3988866743" sldId="264"/>
            <ac:spMk id="3" creationId="{6EC13013-B24A-F269-F39E-56F90EBD1799}"/>
          </ac:spMkLst>
        </pc:spChg>
      </pc:sldChg>
      <pc:sldChg chg="modSp del mod">
        <pc:chgData name="Syed Asmath" userId="4f688744e537bbc6" providerId="LiveId" clId="{27736DAE-97F1-47BE-8AE9-83147B19BE12}" dt="2024-10-06T13:17:11.879" v="790" actId="2696"/>
        <pc:sldMkLst>
          <pc:docMk/>
          <pc:sldMk cId="767721918" sldId="265"/>
        </pc:sldMkLst>
        <pc:spChg chg="mod">
          <ac:chgData name="Syed Asmath" userId="4f688744e537bbc6" providerId="LiveId" clId="{27736DAE-97F1-47BE-8AE9-83147B19BE12}" dt="2024-10-06T13:03:01.912" v="645" actId="14100"/>
          <ac:spMkLst>
            <pc:docMk/>
            <pc:sldMk cId="767721918" sldId="265"/>
            <ac:spMk id="3" creationId="{80B19B6D-6D69-9CBC-FFF9-14835114DFA4}"/>
          </ac:spMkLst>
        </pc:spChg>
      </pc:sldChg>
      <pc:sldChg chg="modSp mod">
        <pc:chgData name="Syed Asmath" userId="4f688744e537bbc6" providerId="LiveId" clId="{27736DAE-97F1-47BE-8AE9-83147B19BE12}" dt="2024-10-06T13:23:23.844" v="822" actId="255"/>
        <pc:sldMkLst>
          <pc:docMk/>
          <pc:sldMk cId="705985881" sldId="266"/>
        </pc:sldMkLst>
        <pc:spChg chg="mod">
          <ac:chgData name="Syed Asmath" userId="4f688744e537bbc6" providerId="LiveId" clId="{27736DAE-97F1-47BE-8AE9-83147B19BE12}" dt="2024-10-06T13:23:23.844" v="822" actId="255"/>
          <ac:spMkLst>
            <pc:docMk/>
            <pc:sldMk cId="705985881" sldId="266"/>
            <ac:spMk id="2" creationId="{5BEC9E06-14AB-DE77-D42C-5761C85F4B98}"/>
          </ac:spMkLst>
        </pc:spChg>
        <pc:spChg chg="mod">
          <ac:chgData name="Syed Asmath" userId="4f688744e537bbc6" providerId="LiveId" clId="{27736DAE-97F1-47BE-8AE9-83147B19BE12}" dt="2024-10-06T13:17:47.648" v="797" actId="255"/>
          <ac:spMkLst>
            <pc:docMk/>
            <pc:sldMk cId="705985881" sldId="266"/>
            <ac:spMk id="3" creationId="{6EC13013-B24A-F269-F39E-56F90EBD1799}"/>
          </ac:spMkLst>
        </pc:spChg>
      </pc:sldChg>
      <pc:sldChg chg="modSp del mod">
        <pc:chgData name="Syed Asmath" userId="4f688744e537bbc6" providerId="LiveId" clId="{27736DAE-97F1-47BE-8AE9-83147B19BE12}" dt="2024-10-06T13:17:32.595" v="791" actId="2696"/>
        <pc:sldMkLst>
          <pc:docMk/>
          <pc:sldMk cId="2005323776" sldId="267"/>
        </pc:sldMkLst>
        <pc:spChg chg="mod">
          <ac:chgData name="Syed Asmath" userId="4f688744e537bbc6" providerId="LiveId" clId="{27736DAE-97F1-47BE-8AE9-83147B19BE12}" dt="2024-10-06T13:00:39.255" v="635" actId="1038"/>
          <ac:spMkLst>
            <pc:docMk/>
            <pc:sldMk cId="2005323776" sldId="267"/>
            <ac:spMk id="2" creationId="{5BEC9E06-14AB-DE77-D42C-5761C85F4B98}"/>
          </ac:spMkLst>
        </pc:spChg>
        <pc:spChg chg="mod">
          <ac:chgData name="Syed Asmath" userId="4f688744e537bbc6" providerId="LiveId" clId="{27736DAE-97F1-47BE-8AE9-83147B19BE12}" dt="2024-10-06T13:03:17.056" v="646" actId="14100"/>
          <ac:spMkLst>
            <pc:docMk/>
            <pc:sldMk cId="2005323776" sldId="267"/>
            <ac:spMk id="3" creationId="{6EC13013-B24A-F269-F39E-56F90EBD1799}"/>
          </ac:spMkLst>
        </pc:spChg>
      </pc:sldChg>
      <pc:sldChg chg="modSp mod">
        <pc:chgData name="Syed Asmath" userId="4f688744e537bbc6" providerId="LiveId" clId="{27736DAE-97F1-47BE-8AE9-83147B19BE12}" dt="2024-10-06T13:23:38.487" v="823" actId="255"/>
        <pc:sldMkLst>
          <pc:docMk/>
          <pc:sldMk cId="438039557" sldId="268"/>
        </pc:sldMkLst>
        <pc:spChg chg="mod">
          <ac:chgData name="Syed Asmath" userId="4f688744e537bbc6" providerId="LiveId" clId="{27736DAE-97F1-47BE-8AE9-83147B19BE12}" dt="2024-10-06T13:23:38.487" v="823" actId="255"/>
          <ac:spMkLst>
            <pc:docMk/>
            <pc:sldMk cId="438039557" sldId="268"/>
            <ac:spMk id="2" creationId="{5BEC9E06-14AB-DE77-D42C-5761C85F4B98}"/>
          </ac:spMkLst>
        </pc:spChg>
        <pc:spChg chg="mod">
          <ac:chgData name="Syed Asmath" userId="4f688744e537bbc6" providerId="LiveId" clId="{27736DAE-97F1-47BE-8AE9-83147B19BE12}" dt="2024-10-06T13:19:35.339" v="808" actId="14100"/>
          <ac:spMkLst>
            <pc:docMk/>
            <pc:sldMk cId="438039557" sldId="268"/>
            <ac:spMk id="3" creationId="{6EC13013-B24A-F269-F39E-56F90EBD1799}"/>
          </ac:spMkLst>
        </pc:spChg>
      </pc:sldChg>
      <pc:sldChg chg="modSp mod">
        <pc:chgData name="Syed Asmath" userId="4f688744e537bbc6" providerId="LiveId" clId="{27736DAE-97F1-47BE-8AE9-83147B19BE12}" dt="2024-10-06T12:59:34.332" v="631" actId="27636"/>
        <pc:sldMkLst>
          <pc:docMk/>
          <pc:sldMk cId="1159585465" sldId="269"/>
        </pc:sldMkLst>
        <pc:spChg chg="mod">
          <ac:chgData name="Syed Asmath" userId="4f688744e537bbc6" providerId="LiveId" clId="{27736DAE-97F1-47BE-8AE9-83147B19BE12}" dt="2024-10-06T12:59:34.332" v="631" actId="27636"/>
          <ac:spMkLst>
            <pc:docMk/>
            <pc:sldMk cId="1159585465" sldId="269"/>
            <ac:spMk id="2" creationId="{EFD43230-1E8F-5776-1F7E-0F28C7081C50}"/>
          </ac:spMkLst>
        </pc:spChg>
      </pc:sldChg>
      <pc:sldChg chg="modSp mod">
        <pc:chgData name="Syed Asmath" userId="4f688744e537bbc6" providerId="LiveId" clId="{27736DAE-97F1-47BE-8AE9-83147B19BE12}" dt="2024-10-06T13:23:14.281" v="821" actId="255"/>
        <pc:sldMkLst>
          <pc:docMk/>
          <pc:sldMk cId="2701476509" sldId="270"/>
        </pc:sldMkLst>
        <pc:spChg chg="mod">
          <ac:chgData name="Syed Asmath" userId="4f688744e537bbc6" providerId="LiveId" clId="{27736DAE-97F1-47BE-8AE9-83147B19BE12}" dt="2024-10-06T13:23:14.281" v="821" actId="255"/>
          <ac:spMkLst>
            <pc:docMk/>
            <pc:sldMk cId="2701476509" sldId="270"/>
            <ac:spMk id="2" creationId="{5BEC9E06-14AB-DE77-D42C-5761C85F4B98}"/>
          </ac:spMkLst>
        </pc:spChg>
        <pc:spChg chg="mod">
          <ac:chgData name="Syed Asmath" userId="4f688744e537bbc6" providerId="LiveId" clId="{27736DAE-97F1-47BE-8AE9-83147B19BE12}" dt="2024-10-06T13:17:02.736" v="789" actId="255"/>
          <ac:spMkLst>
            <pc:docMk/>
            <pc:sldMk cId="2701476509" sldId="270"/>
            <ac:spMk id="3" creationId="{6EC13013-B24A-F269-F39E-56F90EBD1799}"/>
          </ac:spMkLst>
        </pc:spChg>
      </pc:sldChg>
      <pc:sldChg chg="modSp del mod">
        <pc:chgData name="Syed Asmath" userId="4f688744e537bbc6" providerId="LiveId" clId="{27736DAE-97F1-47BE-8AE9-83147B19BE12}" dt="2024-10-06T13:16:18.786" v="782" actId="2696"/>
        <pc:sldMkLst>
          <pc:docMk/>
          <pc:sldMk cId="2985356282" sldId="271"/>
        </pc:sldMkLst>
        <pc:spChg chg="mod">
          <ac:chgData name="Syed Asmath" userId="4f688744e537bbc6" providerId="LiveId" clId="{27736DAE-97F1-47BE-8AE9-83147B19BE12}" dt="2024-10-06T13:02:47.152" v="644" actId="14100"/>
          <ac:spMkLst>
            <pc:docMk/>
            <pc:sldMk cId="2985356282" sldId="271"/>
            <ac:spMk id="3" creationId="{80B19B6D-6D69-9CBC-FFF9-14835114DFA4}"/>
          </ac:spMkLst>
        </pc:spChg>
      </pc:sldChg>
      <pc:sldChg chg="modSp del mod">
        <pc:chgData name="Syed Asmath" userId="4f688744e537bbc6" providerId="LiveId" clId="{27736DAE-97F1-47BE-8AE9-83147B19BE12}" dt="2024-10-06T13:12:10.604" v="734" actId="2696"/>
        <pc:sldMkLst>
          <pc:docMk/>
          <pc:sldMk cId="3784519548" sldId="272"/>
        </pc:sldMkLst>
        <pc:spChg chg="mod">
          <ac:chgData name="Syed Asmath" userId="4f688744e537bbc6" providerId="LiveId" clId="{27736DAE-97F1-47BE-8AE9-83147B19BE12}" dt="2024-10-06T12:47:08.193" v="488" actId="115"/>
          <ac:spMkLst>
            <pc:docMk/>
            <pc:sldMk cId="3784519548" sldId="272"/>
            <ac:spMk id="3" creationId="{80B19B6D-6D69-9CBC-FFF9-14835114DFA4}"/>
          </ac:spMkLst>
        </pc:spChg>
      </pc:sldChg>
      <pc:sldChg chg="modSp add mod">
        <pc:chgData name="Syed Asmath" userId="4f688744e537bbc6" providerId="LiveId" clId="{27736DAE-97F1-47BE-8AE9-83147B19BE12}" dt="2024-10-06T13:22:29.855" v="817" actId="255"/>
        <pc:sldMkLst>
          <pc:docMk/>
          <pc:sldMk cId="3851709550" sldId="273"/>
        </pc:sldMkLst>
        <pc:spChg chg="mod">
          <ac:chgData name="Syed Asmath" userId="4f688744e537bbc6" providerId="LiveId" clId="{27736DAE-97F1-47BE-8AE9-83147B19BE12}" dt="2024-10-06T13:22:29.855" v="817" actId="255"/>
          <ac:spMkLst>
            <pc:docMk/>
            <pc:sldMk cId="3851709550" sldId="273"/>
            <ac:spMk id="2" creationId="{5BEC9E06-14AB-DE77-D42C-5761C85F4B98}"/>
          </ac:spMkLst>
        </pc:spChg>
        <pc:spChg chg="mod">
          <ac:chgData name="Syed Asmath" userId="4f688744e537bbc6" providerId="LiveId" clId="{27736DAE-97F1-47BE-8AE9-83147B19BE12}" dt="2024-10-06T13:13:53.886" v="750" actId="123"/>
          <ac:spMkLst>
            <pc:docMk/>
            <pc:sldMk cId="3851709550" sldId="273"/>
            <ac:spMk id="3" creationId="{6EC13013-B24A-F269-F39E-56F90EBD1799}"/>
          </ac:spMkLst>
        </pc:spChg>
      </pc:sldChg>
      <pc:sldChg chg="add">
        <pc:chgData name="Syed Asmath" userId="4f688744e537bbc6" providerId="LiveId" clId="{27736DAE-97F1-47BE-8AE9-83147B19BE12}" dt="2024-10-06T13:32:58.030" v="838" actId="2890"/>
        <pc:sldMkLst>
          <pc:docMk/>
          <pc:sldMk cId="1436117179" sldId="27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3470155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937781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1423898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72E00B-9C80-4BB0-BF1D-AB6C9007094E}" type="datetimeFigureOut">
              <a:rPr lang="en-IN" smtClean="0"/>
              <a:t>06-10-2024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4160935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72E00B-9C80-4BB0-BF1D-AB6C9007094E}" type="datetimeFigureOut">
              <a:rPr lang="en-IN" smtClean="0"/>
              <a:t>06-10-2024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3959522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2E00B-9C80-4BB0-BF1D-AB6C9007094E}" type="datetimeFigureOut">
              <a:rPr lang="en-IN" smtClean="0"/>
              <a:t>06-10-2024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2628122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72E00B-9C80-4BB0-BF1D-AB6C9007094E}" type="datetimeFigureOut">
              <a:rPr lang="en-IN" smtClean="0"/>
              <a:t>06-10-2024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834481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72E00B-9C80-4BB0-BF1D-AB6C9007094E}" type="datetimeFigureOut">
              <a:rPr lang="en-IN" smtClean="0"/>
              <a:t>06-10-2024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3620416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72E00B-9C80-4BB0-BF1D-AB6C9007094E}" type="datetimeFigureOut">
              <a:rPr lang="en-IN" smtClean="0"/>
              <a:t>06-10-2024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2922453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2805678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88008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130784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958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4018193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2020188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72E00B-9C80-4BB0-BF1D-AB6C9007094E}" type="datetimeFigureOut">
              <a:rPr lang="en-IN" smtClean="0"/>
              <a:t>06-10-2024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4E2AE5-655C-4171-9D76-1767D26CACC9}" type="slidenum">
              <a:rPr lang="en-IN" smtClean="0"/>
              <a:t>‹#›</a:t>
            </a:fld>
            <a:endParaRPr lang="en-IN"/>
          </a:p>
        </p:txBody>
      </p:sp>
    </p:spTree>
    <p:extLst>
      <p:ext uri="{BB962C8B-B14F-4D97-AF65-F5344CB8AC3E}">
        <p14:creationId xmlns:p14="http://schemas.microsoft.com/office/powerpoint/2010/main" val="1054741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772E00B-9C80-4BB0-BF1D-AB6C9007094E}" type="datetimeFigureOut">
              <a:rPr lang="en-IN" smtClean="0"/>
              <a:t>06-10-2024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74E2AE5-655C-4171-9D76-1767D26CACC9}" type="slidenum">
              <a:rPr lang="en-IN" smtClean="0"/>
              <a:t>‹#›</a:t>
            </a:fld>
            <a:endParaRPr lang="en-IN"/>
          </a:p>
        </p:txBody>
      </p:sp>
    </p:spTree>
    <p:extLst>
      <p:ext uri="{BB962C8B-B14F-4D97-AF65-F5344CB8AC3E}">
        <p14:creationId xmlns:p14="http://schemas.microsoft.com/office/powerpoint/2010/main" val="4135695312"/>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53088-7F1D-5FD3-DA31-FD4D503364FE}"/>
              </a:ext>
            </a:extLst>
          </p:cNvPr>
          <p:cNvSpPr>
            <a:spLocks noGrp="1"/>
          </p:cNvSpPr>
          <p:nvPr>
            <p:ph type="ctrTitle"/>
          </p:nvPr>
        </p:nvSpPr>
        <p:spPr>
          <a:xfrm>
            <a:off x="1071716" y="2271250"/>
            <a:ext cx="8042787" cy="3696929"/>
          </a:xfrm>
        </p:spPr>
        <p:txBody>
          <a:bodyPr>
            <a:normAutofit fontScale="90000"/>
          </a:bodyPr>
          <a:lstStyle/>
          <a:p>
            <a:pPr algn="l"/>
            <a:br>
              <a:rPr lang="en-US" sz="4800" b="1" kern="150" dirty="0">
                <a:latin typeface="Times New Roman" panose="02020603050405020304" pitchFamily="18" charset="0"/>
                <a:ea typeface="NSimSun" panose="02010609030101010101" pitchFamily="49" charset="-122"/>
                <a:cs typeface="Times New Roman" panose="02020603050405020304" pitchFamily="18" charset="0"/>
              </a:rPr>
            </a:br>
            <a:r>
              <a:rPr lang="en-US" sz="3100" b="1" u="sng" kern="150" dirty="0">
                <a:latin typeface="Times New Roman" panose="02020603050405020304" pitchFamily="18" charset="0"/>
                <a:ea typeface="NSimSun" panose="02010609030101010101" pitchFamily="49" charset="-122"/>
                <a:cs typeface="Times New Roman" panose="02020603050405020304" pitchFamily="18" charset="0"/>
              </a:rPr>
              <a:t>A LEARNING MODEL ON CUSTOMER CHURN FORECASTING FOR TELECOM PROVIDERS</a:t>
            </a:r>
            <a:br>
              <a:rPr lang="en-US" sz="2700" b="1" kern="150" dirty="0">
                <a:latin typeface="Times New Roman" panose="02020603050405020304" pitchFamily="18" charset="0"/>
                <a:ea typeface="NSimSun" panose="02010609030101010101" pitchFamily="49" charset="-122"/>
                <a:cs typeface="Times New Roman" panose="02020603050405020304" pitchFamily="18" charset="0"/>
              </a:rPr>
            </a:br>
            <a:br>
              <a:rPr lang="en-US" sz="2700" b="1" kern="150" dirty="0">
                <a:latin typeface="Times New Roman" panose="02020603050405020304" pitchFamily="18" charset="0"/>
                <a:ea typeface="NSimSun" panose="02010609030101010101" pitchFamily="49" charset="-122"/>
                <a:cs typeface="Times New Roman" panose="02020603050405020304" pitchFamily="18" charset="0"/>
              </a:rPr>
            </a:br>
            <a: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SV Manikanta-21981A05D9</a:t>
            </a:r>
            <a:b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br>
            <a: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Syed Asmath-21981A05F9</a:t>
            </a:r>
            <a:b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br>
            <a: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T Ramakrishna-21981A05G5</a:t>
            </a:r>
            <a:b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br>
            <a: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T Shalini-21981A05H1</a:t>
            </a:r>
            <a:b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br>
            <a:br>
              <a:rPr lang="en-US" sz="2700" b="1" kern="150" dirty="0">
                <a:latin typeface="Times New Roman" panose="02020603050405020304" pitchFamily="18" charset="0"/>
                <a:ea typeface="NSimSun" panose="02010609030101010101" pitchFamily="49" charset="-122"/>
                <a:cs typeface="Times New Roman" panose="02020603050405020304" pitchFamily="18" charset="0"/>
              </a:rPr>
            </a:br>
            <a: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Mr. A </a:t>
            </a:r>
            <a:r>
              <a:rPr lang="en-US" sz="2700" b="1" kern="150" dirty="0" err="1">
                <a:solidFill>
                  <a:schemeClr val="tx1"/>
                </a:solidFill>
                <a:latin typeface="Times New Roman" panose="02020603050405020304" pitchFamily="18" charset="0"/>
                <a:ea typeface="NSimSun" panose="02010609030101010101" pitchFamily="49" charset="-122"/>
                <a:cs typeface="Times New Roman" panose="02020603050405020304" pitchFamily="18" charset="0"/>
              </a:rPr>
              <a:t>A</a:t>
            </a:r>
            <a: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 </a:t>
            </a:r>
            <a:r>
              <a:rPr lang="en-US" sz="2700" b="1" kern="150" dirty="0" err="1">
                <a:solidFill>
                  <a:schemeClr val="tx1"/>
                </a:solidFill>
                <a:latin typeface="Times New Roman" panose="02020603050405020304" pitchFamily="18" charset="0"/>
                <a:ea typeface="NSimSun" panose="02010609030101010101" pitchFamily="49" charset="-122"/>
                <a:cs typeface="Times New Roman" panose="02020603050405020304" pitchFamily="18" charset="0"/>
              </a:rPr>
              <a:t>Narasimham</a:t>
            </a:r>
            <a:r>
              <a:rPr lang="en-US" sz="2700" b="1" kern="15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a:t>
            </a:r>
            <a:b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br>
            <a: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Assistant Professor </a:t>
            </a:r>
            <a:br>
              <a:rPr lang="en-US" sz="2700" b="1" kern="150" dirty="0">
                <a:latin typeface="Times New Roman" panose="02020603050405020304" pitchFamily="18" charset="0"/>
                <a:ea typeface="NSimSun" panose="02010609030101010101" pitchFamily="49" charset="-122"/>
                <a:cs typeface="Times New Roman" panose="02020603050405020304" pitchFamily="18" charset="0"/>
              </a:rPr>
            </a:br>
            <a:br>
              <a:rPr lang="en-US" sz="2700" b="1" kern="150" dirty="0">
                <a:latin typeface="Times New Roman" panose="02020603050405020304" pitchFamily="18" charset="0"/>
                <a:ea typeface="NSimSun" panose="02010609030101010101" pitchFamily="49" charset="-122"/>
                <a:cs typeface="Times New Roman" panose="02020603050405020304" pitchFamily="18" charset="0"/>
              </a:rPr>
            </a:br>
            <a: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Computer Science and Engineering,</a:t>
            </a:r>
            <a:b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br>
            <a:r>
              <a:rPr lang="en-US" sz="2700" b="1" kern="150" dirty="0">
                <a:solidFill>
                  <a:schemeClr val="tx1"/>
                </a:solidFill>
                <a:latin typeface="Times New Roman" panose="02020603050405020304" pitchFamily="18" charset="0"/>
                <a:ea typeface="NSimSun" panose="02010609030101010101" pitchFamily="49" charset="-122"/>
                <a:cs typeface="Times New Roman" panose="02020603050405020304" pitchFamily="18" charset="0"/>
              </a:rPr>
              <a:t>Raghu Engineering College</a:t>
            </a:r>
            <a:endParaRPr lang="en-IN" sz="2700" dirty="0">
              <a:solidFill>
                <a:schemeClr val="tx1"/>
              </a:solidFill>
            </a:endParaRPr>
          </a:p>
        </p:txBody>
      </p:sp>
      <p:sp>
        <p:nvSpPr>
          <p:cNvPr id="3" name="Subtitle 2">
            <a:extLst>
              <a:ext uri="{FF2B5EF4-FFF2-40B4-BE49-F238E27FC236}">
                <a16:creationId xmlns:a16="http://schemas.microsoft.com/office/drawing/2014/main" id="{30F3A11C-9B3C-2752-41D6-03F15A253C07}"/>
              </a:ext>
            </a:extLst>
          </p:cNvPr>
          <p:cNvSpPr>
            <a:spLocks noGrp="1"/>
          </p:cNvSpPr>
          <p:nvPr>
            <p:ph type="subTitle" idx="1"/>
          </p:nvPr>
        </p:nvSpPr>
        <p:spPr>
          <a:xfrm>
            <a:off x="1507067" y="5014452"/>
            <a:ext cx="7766936" cy="133280"/>
          </a:xfrm>
        </p:spPr>
        <p:txBody>
          <a:bodyPr>
            <a:normAutofit fontScale="25000" lnSpcReduction="20000"/>
          </a:bodyPr>
          <a:lstStyle/>
          <a:p>
            <a:endParaRPr lang="en-IN" dirty="0"/>
          </a:p>
          <a:p>
            <a:r>
              <a:rPr lang="en-IN" dirty="0"/>
              <a:t> </a:t>
            </a:r>
          </a:p>
        </p:txBody>
      </p:sp>
    </p:spTree>
    <p:extLst>
      <p:ext uri="{BB962C8B-B14F-4D97-AF65-F5344CB8AC3E}">
        <p14:creationId xmlns:p14="http://schemas.microsoft.com/office/powerpoint/2010/main" val="1582766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9E06-14AB-DE77-D42C-5761C85F4B98}"/>
              </a:ext>
            </a:extLst>
          </p:cNvPr>
          <p:cNvSpPr>
            <a:spLocks noGrp="1"/>
          </p:cNvSpPr>
          <p:nvPr>
            <p:ph type="title"/>
          </p:nvPr>
        </p:nvSpPr>
        <p:spPr>
          <a:xfrm>
            <a:off x="685800" y="580103"/>
            <a:ext cx="8704006" cy="1229031"/>
          </a:xfrm>
        </p:spPr>
        <p:txBody>
          <a:bodyPr>
            <a:normAutofit fontScale="90000"/>
          </a:bodyPr>
          <a:lstStyle/>
          <a:p>
            <a:pPr algn="ctr"/>
            <a:r>
              <a:rPr lang="en-US" sz="2700" dirty="0">
                <a:latin typeface="Times New Roman" panose="02020603050405020304" pitchFamily="18" charset="0"/>
                <a:cs typeface="Times New Roman" panose="02020603050405020304" pitchFamily="18" charset="0"/>
              </a:rPr>
              <a:t>Objective –</a:t>
            </a:r>
            <a:br>
              <a:rPr lang="en-US" sz="27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A Customer Churn Forecasting for telecom providers</a:t>
            </a:r>
            <a:br>
              <a:rPr lang="en-US"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711C50C-A8E6-204C-C4ED-F0043CCC4B84}"/>
              </a:ext>
            </a:extLst>
          </p:cNvPr>
          <p:cNvSpPr>
            <a:spLocks noGrp="1"/>
          </p:cNvSpPr>
          <p:nvPr>
            <p:ph idx="1"/>
          </p:nvPr>
        </p:nvSpPr>
        <p:spPr>
          <a:xfrm>
            <a:off x="677334" y="1720645"/>
            <a:ext cx="8596668" cy="4320717"/>
          </a:xfrm>
        </p:spPr>
        <p:txBody>
          <a:bodyPr>
            <a:normAutofit/>
          </a:bodyPr>
          <a:lstStyle/>
          <a:p>
            <a:pPr marL="0" indent="0" algn="just">
              <a:buNone/>
            </a:pPr>
            <a:r>
              <a:rPr lang="en-US" sz="2000" u="sng" dirty="0">
                <a:latin typeface="Times New Roman" panose="02020603050405020304" pitchFamily="18" charset="0"/>
                <a:cs typeface="Times New Roman" panose="02020603050405020304" pitchFamily="18" charset="0"/>
              </a:rPr>
              <a:t>Aim</a:t>
            </a:r>
          </a:p>
          <a:p>
            <a:pPr marL="0" indent="0" algn="just">
              <a:buNone/>
            </a:pPr>
            <a:r>
              <a:rPr lang="en-US" sz="2000" dirty="0">
                <a:latin typeface="Times New Roman" panose="02020603050405020304" pitchFamily="18" charset="0"/>
                <a:cs typeface="Times New Roman" panose="02020603050405020304" pitchFamily="18" charset="0"/>
              </a:rPr>
              <a:t>The aim of this project is to develop machine learning model to predict the churn of a customer.</a:t>
            </a:r>
          </a:p>
          <a:p>
            <a:pPr marL="0" indent="0" algn="just">
              <a:buNone/>
            </a:pPr>
            <a:r>
              <a:rPr lang="en-US" sz="2000" u="sng" dirty="0">
                <a:latin typeface="Times New Roman" panose="02020603050405020304" pitchFamily="18" charset="0"/>
                <a:cs typeface="Times New Roman" panose="02020603050405020304" pitchFamily="18" charset="0"/>
              </a:rPr>
              <a:t>Objective</a:t>
            </a:r>
          </a:p>
          <a:p>
            <a:pPr marL="0" indent="0" algn="just">
              <a:buNone/>
            </a:pPr>
            <a:r>
              <a:rPr lang="en-US" sz="2000" dirty="0">
                <a:latin typeface="Times New Roman" panose="02020603050405020304" pitchFamily="18" charset="0"/>
                <a:cs typeface="Times New Roman" panose="02020603050405020304" pitchFamily="18" charset="0"/>
              </a:rPr>
              <a:t>Conduct a systematic literature study on features influencing the customer churn in different companies. A comprehensive study of the proposals made by the researchers in identifying customer churn. Perform extensive feature engineering by comparing various class imbalance and dimensionality reduction techniques. Apply classification techniques in data mining and compare accuracy to arrive the best technique for prior identifying the customer churn.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2961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9E06-14AB-DE77-D42C-5761C85F4B98}"/>
              </a:ext>
            </a:extLst>
          </p:cNvPr>
          <p:cNvSpPr>
            <a:spLocks noGrp="1"/>
          </p:cNvSpPr>
          <p:nvPr>
            <p:ph type="title"/>
          </p:nvPr>
        </p:nvSpPr>
        <p:spPr>
          <a:xfrm>
            <a:off x="685800" y="580103"/>
            <a:ext cx="8704006" cy="1229031"/>
          </a:xfrm>
        </p:spPr>
        <p:txBody>
          <a:bodyPr>
            <a:normAutofit fontScale="90000"/>
          </a:bodyPr>
          <a:lstStyle/>
          <a:p>
            <a:pPr algn="ctr"/>
            <a:r>
              <a:rPr lang="en-US" sz="2700" dirty="0">
                <a:latin typeface="Times New Roman" panose="02020603050405020304" pitchFamily="18" charset="0"/>
                <a:cs typeface="Times New Roman" panose="02020603050405020304" pitchFamily="18" charset="0"/>
              </a:rPr>
              <a:t>Abstract –</a:t>
            </a:r>
            <a:br>
              <a:rPr lang="en-US" sz="27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A Customer Churn Forecasting for telecom providers</a:t>
            </a:r>
            <a:br>
              <a:rPr lang="en-US"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EC13013-B24A-F269-F39E-56F90EBD1799}"/>
              </a:ext>
            </a:extLst>
          </p:cNvPr>
          <p:cNvSpPr>
            <a:spLocks noGrp="1"/>
          </p:cNvSpPr>
          <p:nvPr>
            <p:ph idx="1"/>
          </p:nvPr>
        </p:nvSpPr>
        <p:spPr>
          <a:xfrm>
            <a:off x="685800" y="1612491"/>
            <a:ext cx="8704006" cy="3839076"/>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In the competitive telecom industry, keeping customers is vital for profit and growth. This project aims to understand why customers leave their telecom providers. By looking at past data on customer behavior, service usage, and interactions, we want to find patterns that show when a customer might leave. We will collect and study different information, like account details, service history, and feedback. This will help us identify key signs of potential departure and the reasons behind it. With these insights, telecom companies can create strategies to improve customer satisfaction, enhance service quality, and take proactive steps to keep their customers. The main goal is to provide useful information that helps telecom providers reduce customer turnover, improve retention efforts, and build long-term relationships with their customers.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6117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9E06-14AB-DE77-D42C-5761C85F4B98}"/>
              </a:ext>
            </a:extLst>
          </p:cNvPr>
          <p:cNvSpPr>
            <a:spLocks noGrp="1"/>
          </p:cNvSpPr>
          <p:nvPr>
            <p:ph type="title"/>
          </p:nvPr>
        </p:nvSpPr>
        <p:spPr>
          <a:xfrm>
            <a:off x="685800" y="580104"/>
            <a:ext cx="7828935" cy="1150374"/>
          </a:xfrm>
        </p:spPr>
        <p:txBody>
          <a:bodyPr>
            <a:normAutofit/>
          </a:bodyPr>
          <a:lstStyle/>
          <a:p>
            <a:pPr algn="ctr"/>
            <a:r>
              <a:rPr lang="en-US" sz="2400" dirty="0">
                <a:latin typeface="Times New Roman" panose="02020603050405020304" pitchFamily="18" charset="0"/>
                <a:cs typeface="Times New Roman" panose="02020603050405020304" pitchFamily="18" charset="0"/>
              </a:rPr>
              <a:t>Customer Churn Prediction System-</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machine learning approach</a:t>
            </a:r>
            <a:endParaRPr lang="en-IN"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EC13013-B24A-F269-F39E-56F90EBD1799}"/>
              </a:ext>
            </a:extLst>
          </p:cNvPr>
          <p:cNvSpPr>
            <a:spLocks noGrp="1"/>
          </p:cNvSpPr>
          <p:nvPr>
            <p:ph idx="1"/>
          </p:nvPr>
        </p:nvSpPr>
        <p:spPr>
          <a:xfrm>
            <a:off x="685800" y="1641987"/>
            <a:ext cx="8704006" cy="3809580"/>
          </a:xfrm>
        </p:spPr>
        <p:txBody>
          <a:bodyPr>
            <a:normAutofit fontScale="85000" lnSpcReduction="20000"/>
          </a:bodyPr>
          <a:lstStyle/>
          <a:p>
            <a:pPr marL="0" indent="0" algn="just">
              <a:buNone/>
            </a:pPr>
            <a:r>
              <a:rPr lang="en-US" sz="2400" dirty="0">
                <a:latin typeface="Times New Roman" panose="02020603050405020304" pitchFamily="18" charset="0"/>
                <a:cs typeface="Times New Roman" panose="02020603050405020304" pitchFamily="18" charset="0"/>
              </a:rPr>
              <a:t>This existing methodology for customer churn prediction in the telecom industry involves data preprocessing, feature selection using the gravitational search algorithm, and predictive modeling with popular machine learning techniques. </a:t>
            </a:r>
          </a:p>
          <a:p>
            <a:pPr marL="0" indent="0" algn="just">
              <a:buNone/>
            </a:pPr>
            <a:r>
              <a:rPr lang="en-US" sz="2400" dirty="0">
                <a:latin typeface="Times New Roman" panose="02020603050405020304" pitchFamily="18" charset="0"/>
                <a:cs typeface="Times New Roman" panose="02020603050405020304" pitchFamily="18" charset="0"/>
              </a:rPr>
              <a:t>Boosting models like Adaboost and XGBoost achieved the highest accuracy of 81.71%, with an AUC score of 84%, outperforming other models.</a:t>
            </a:r>
          </a:p>
          <a:p>
            <a:pPr marL="0" indent="0" algn="just">
              <a:buNone/>
            </a:pPr>
            <a:r>
              <a:rPr lang="en-IN" sz="2400" u="sng" dirty="0">
                <a:latin typeface="Times New Roman" panose="02020603050405020304" pitchFamily="18" charset="0"/>
                <a:cs typeface="Times New Roman" panose="02020603050405020304" pitchFamily="18" charset="0"/>
              </a:rPr>
              <a:t>Algorithms</a:t>
            </a:r>
          </a:p>
          <a:p>
            <a:pPr marL="0" indent="0" algn="just">
              <a:buNone/>
            </a:pPr>
            <a:r>
              <a:rPr lang="en-IN" sz="2400" dirty="0">
                <a:latin typeface="Times New Roman" panose="02020603050405020304" pitchFamily="18" charset="0"/>
                <a:cs typeface="Times New Roman" panose="02020603050405020304" pitchFamily="18" charset="0"/>
              </a:rPr>
              <a:t>	- Adaptive Boosting (</a:t>
            </a:r>
            <a:r>
              <a:rPr lang="en-IN" sz="2400" dirty="0" err="1">
                <a:latin typeface="Times New Roman" panose="02020603050405020304" pitchFamily="18" charset="0"/>
                <a:cs typeface="Times New Roman" panose="02020603050405020304" pitchFamily="18" charset="0"/>
              </a:rPr>
              <a:t>Adaboost</a:t>
            </a:r>
            <a:r>
              <a:rPr lang="en-IN" sz="2400" dirty="0">
                <a:latin typeface="Times New Roman" panose="02020603050405020304" pitchFamily="18" charset="0"/>
                <a:cs typeface="Times New Roman" panose="02020603050405020304" pitchFamily="18" charset="0"/>
              </a:rPr>
              <a:t>)</a:t>
            </a:r>
          </a:p>
          <a:p>
            <a:pPr marL="0" indent="0" algn="just">
              <a:buNone/>
            </a:pPr>
            <a:r>
              <a:rPr lang="en-IN" sz="2400" dirty="0">
                <a:latin typeface="Times New Roman" panose="02020603050405020304" pitchFamily="18" charset="0"/>
                <a:cs typeface="Times New Roman" panose="02020603050405020304" pitchFamily="18" charset="0"/>
              </a:rPr>
              <a:t>	- Extreme Gradient Boosting (</a:t>
            </a:r>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a:t>
            </a:r>
          </a:p>
          <a:p>
            <a:pPr marL="0" indent="0" algn="just">
              <a:buNone/>
            </a:pPr>
            <a:r>
              <a:rPr lang="en-IN" sz="2400" u="sng" dirty="0">
                <a:latin typeface="Times New Roman" panose="02020603050405020304" pitchFamily="18" charset="0"/>
                <a:cs typeface="Times New Roman" panose="02020603050405020304" pitchFamily="18" charset="0"/>
              </a:rPr>
              <a:t>Drawbacks</a:t>
            </a:r>
          </a:p>
          <a:p>
            <a:pPr marL="0" indent="0" algn="just">
              <a:buNone/>
            </a:pPr>
            <a:r>
              <a:rPr lang="en-IN" sz="2400" dirty="0">
                <a:latin typeface="Times New Roman" panose="02020603050405020304" pitchFamily="18" charset="0"/>
                <a:cs typeface="Times New Roman" panose="02020603050405020304" pitchFamily="18" charset="0"/>
              </a:rPr>
              <a:t>	- Only two algorithms used</a:t>
            </a:r>
          </a:p>
          <a:p>
            <a:pPr marL="0" indent="0" algn="just">
              <a:buNone/>
            </a:pPr>
            <a:r>
              <a:rPr lang="en-IN" sz="2400" dirty="0">
                <a:latin typeface="Times New Roman" panose="02020603050405020304" pitchFamily="18" charset="0"/>
                <a:cs typeface="Times New Roman" panose="02020603050405020304" pitchFamily="18" charset="0"/>
              </a:rPr>
              <a:t>	- Accuracy is not high</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170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9E06-14AB-DE77-D42C-5761C85F4B98}"/>
              </a:ext>
            </a:extLst>
          </p:cNvPr>
          <p:cNvSpPr>
            <a:spLocks noGrp="1"/>
          </p:cNvSpPr>
          <p:nvPr>
            <p:ph type="title"/>
          </p:nvPr>
        </p:nvSpPr>
        <p:spPr>
          <a:xfrm>
            <a:off x="685800" y="353962"/>
            <a:ext cx="8438535" cy="943896"/>
          </a:xfrm>
        </p:spPr>
        <p:txBody>
          <a:bodyPr>
            <a:noAutofit/>
          </a:bodyPr>
          <a:lstStyle/>
          <a:p>
            <a:pPr algn="ctr"/>
            <a:r>
              <a:rPr lang="en-US" sz="2400" dirty="0">
                <a:latin typeface="Times New Roman" panose="02020603050405020304" pitchFamily="18" charset="0"/>
                <a:cs typeface="Times New Roman" panose="02020603050405020304" pitchFamily="18" charset="0"/>
              </a:rPr>
              <a:t>Customer Churn Prediction in Telecom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Using machine learning in big data platform</a:t>
            </a:r>
          </a:p>
        </p:txBody>
      </p:sp>
      <p:sp>
        <p:nvSpPr>
          <p:cNvPr id="3" name="Content Placeholder 2">
            <a:extLst>
              <a:ext uri="{FF2B5EF4-FFF2-40B4-BE49-F238E27FC236}">
                <a16:creationId xmlns:a16="http://schemas.microsoft.com/office/drawing/2014/main" id="{6EC13013-B24A-F269-F39E-56F90EBD1799}"/>
              </a:ext>
            </a:extLst>
          </p:cNvPr>
          <p:cNvSpPr>
            <a:spLocks noGrp="1"/>
          </p:cNvSpPr>
          <p:nvPr>
            <p:ph idx="1"/>
          </p:nvPr>
        </p:nvSpPr>
        <p:spPr>
          <a:xfrm>
            <a:off x="685800" y="1406013"/>
            <a:ext cx="8674510" cy="4473678"/>
          </a:xfrm>
        </p:spPr>
        <p:txBody>
          <a:bodyPr>
            <a:noAutofit/>
          </a:bodyPr>
          <a:lstStyle/>
          <a:p>
            <a:pPr marL="0" indent="0" algn="just">
              <a:lnSpc>
                <a:spcPct val="100000"/>
              </a:lnSpc>
              <a:buFont typeface="Arial" panose="020B0604020202020204" pitchFamily="34" charset="0"/>
              <a:buNone/>
            </a:pPr>
            <a:r>
              <a:rPr lang="en-US" sz="2000" kern="1200" dirty="0">
                <a:effectLst/>
                <a:latin typeface="Times New Roman" panose="02020603050405020304" pitchFamily="18" charset="0"/>
                <a:cs typeface="Times New Roman" panose="02020603050405020304" pitchFamily="18" charset="0"/>
              </a:rPr>
              <a:t>Build a system that predicts the churn of customers in SyriaTel Telecom Company. Four tree-based algorithms were chosen because of their diversity and applicability in this type of prediction. XGBOOST tree model achieved the best results in all measurements with 93.3%.</a:t>
            </a:r>
            <a:endParaRPr lang="en-US" sz="2000" dirty="0">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r>
              <a:rPr lang="en-US" sz="2000" u="sng" kern="1200" dirty="0">
                <a:effectLst/>
                <a:latin typeface="Times New Roman" panose="02020603050405020304" pitchFamily="18" charset="0"/>
                <a:cs typeface="Times New Roman" panose="02020603050405020304" pitchFamily="18" charset="0"/>
              </a:rPr>
              <a:t>Dataset</a:t>
            </a:r>
            <a:r>
              <a:rPr lang="en-US" sz="2000" kern="1200" dirty="0">
                <a:effectLst/>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Real mobile telecom dataset (telecom operator's customer data)</a:t>
            </a:r>
          </a:p>
          <a:p>
            <a:pPr marL="0" indent="0" algn="just">
              <a:buNone/>
            </a:pPr>
            <a:r>
              <a:rPr lang="en-IN" sz="2000" u="sng" dirty="0">
                <a:latin typeface="Times New Roman" panose="02020603050405020304" pitchFamily="18" charset="0"/>
                <a:cs typeface="Times New Roman" panose="02020603050405020304" pitchFamily="18" charset="0"/>
              </a:rPr>
              <a:t>Algorithms</a:t>
            </a:r>
          </a:p>
          <a:p>
            <a:pPr marL="0" indent="0" algn="just">
              <a:buNone/>
            </a:pPr>
            <a:r>
              <a:rPr lang="en-IN" sz="2000" dirty="0">
                <a:latin typeface="Times New Roman" panose="02020603050405020304" pitchFamily="18" charset="0"/>
                <a:cs typeface="Times New Roman" panose="02020603050405020304" pitchFamily="18" charset="0"/>
              </a:rPr>
              <a:t>	- Decision Tree</a:t>
            </a:r>
          </a:p>
          <a:p>
            <a:pPr marL="0" indent="0" algn="just">
              <a:buNone/>
            </a:pPr>
            <a:r>
              <a:rPr lang="en-IN" sz="2000" dirty="0">
                <a:latin typeface="Times New Roman" panose="02020603050405020304" pitchFamily="18" charset="0"/>
                <a:cs typeface="Times New Roman" panose="02020603050405020304" pitchFamily="18" charset="0"/>
              </a:rPr>
              <a:t>	- Random Forest</a:t>
            </a:r>
          </a:p>
          <a:p>
            <a:pPr marL="0" indent="0" algn="just">
              <a:buNone/>
            </a:pPr>
            <a:r>
              <a:rPr lang="en-IN" sz="2000" dirty="0">
                <a:latin typeface="Times New Roman" panose="02020603050405020304" pitchFamily="18" charset="0"/>
                <a:cs typeface="Times New Roman" panose="02020603050405020304" pitchFamily="18" charset="0"/>
              </a:rPr>
              <a:t>	- Gradient Boosted Machine Tree (GBM)</a:t>
            </a:r>
          </a:p>
          <a:p>
            <a:pPr marL="0" indent="0" algn="just">
              <a:buNone/>
            </a:pPr>
            <a:r>
              <a:rPr lang="en-IN" sz="2000" dirty="0">
                <a:latin typeface="Times New Roman" panose="02020603050405020304" pitchFamily="18" charset="0"/>
                <a:cs typeface="Times New Roman" panose="02020603050405020304" pitchFamily="18" charset="0"/>
              </a:rPr>
              <a:t>	- Extreme Gradient Boosting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a:t>
            </a:r>
          </a:p>
          <a:p>
            <a:pPr marL="0" indent="0" algn="just">
              <a:buNone/>
            </a:pPr>
            <a:r>
              <a:rPr lang="en-IN" sz="2000" u="sng" dirty="0">
                <a:latin typeface="Times New Roman" panose="02020603050405020304" pitchFamily="18" charset="0"/>
                <a:cs typeface="Times New Roman" panose="02020603050405020304" pitchFamily="18" charset="0"/>
              </a:rPr>
              <a:t>Drawbacks</a:t>
            </a:r>
          </a:p>
          <a:p>
            <a:pPr marL="0" indent="0" algn="just">
              <a:buNone/>
            </a:pPr>
            <a:r>
              <a:rPr lang="en-IN" sz="2000"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Only tree-based algorithms are considered</a:t>
            </a:r>
            <a:endParaRPr lang="en-US" sz="2000" kern="12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454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9E06-14AB-DE77-D42C-5761C85F4B98}"/>
              </a:ext>
            </a:extLst>
          </p:cNvPr>
          <p:cNvSpPr>
            <a:spLocks noGrp="1"/>
          </p:cNvSpPr>
          <p:nvPr>
            <p:ph type="title"/>
          </p:nvPr>
        </p:nvSpPr>
        <p:spPr>
          <a:xfrm>
            <a:off x="694509" y="462116"/>
            <a:ext cx="8577310" cy="1091381"/>
          </a:xfrm>
        </p:spPr>
        <p:txBody>
          <a:bodyPr>
            <a:normAutofit/>
          </a:bodyPr>
          <a:lstStyle/>
          <a:p>
            <a:pPr algn="ctr"/>
            <a:r>
              <a:rPr lang="en-US" sz="2400" dirty="0">
                <a:latin typeface="Times New Roman" panose="02020603050405020304" pitchFamily="18" charset="0"/>
                <a:cs typeface="Times New Roman" panose="02020603050405020304" pitchFamily="18" charset="0"/>
              </a:rPr>
              <a:t>Customer churn prediction using machine learning-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 study in the B2B subscription-based service context</a:t>
            </a:r>
          </a:p>
        </p:txBody>
      </p:sp>
      <p:sp>
        <p:nvSpPr>
          <p:cNvPr id="3" name="Content Placeholder 2">
            <a:extLst>
              <a:ext uri="{FF2B5EF4-FFF2-40B4-BE49-F238E27FC236}">
                <a16:creationId xmlns:a16="http://schemas.microsoft.com/office/drawing/2014/main" id="{6EC13013-B24A-F269-F39E-56F90EBD1799}"/>
              </a:ext>
            </a:extLst>
          </p:cNvPr>
          <p:cNvSpPr>
            <a:spLocks noGrp="1"/>
          </p:cNvSpPr>
          <p:nvPr>
            <p:ph idx="1"/>
          </p:nvPr>
        </p:nvSpPr>
        <p:spPr>
          <a:xfrm>
            <a:off x="694509" y="1553498"/>
            <a:ext cx="8577310" cy="4031226"/>
          </a:xfrm>
        </p:spPr>
        <p:txBody>
          <a:bodyPr>
            <a:normAutofit fontScale="77500" lnSpcReduction="20000"/>
          </a:bodyPr>
          <a:lstStyle/>
          <a:p>
            <a:pPr marL="0" indent="0" algn="just">
              <a:buNone/>
            </a:pPr>
            <a:r>
              <a:rPr lang="en-IN" sz="2600" dirty="0">
                <a:latin typeface="Times New Roman" panose="02020603050405020304" pitchFamily="18" charset="0"/>
                <a:cs typeface="Times New Roman" panose="02020603050405020304" pitchFamily="18" charset="0"/>
              </a:rPr>
              <a:t>This study explores customer churn prediction in B2B subscription services, comparing XGBoost, Random Forest, and Naïve Bayes algorithms. Three sampling methods (SMOTE, SMOTEENN, and RandomUnderSampler) are evaluated to improve performance, addressing imbalanced data for better prediction accuracy.</a:t>
            </a:r>
          </a:p>
          <a:p>
            <a:pPr marL="0" indent="0" algn="just">
              <a:buNone/>
            </a:pPr>
            <a:r>
              <a:rPr lang="en-IN" sz="2600" u="sng" dirty="0">
                <a:latin typeface="Times New Roman" panose="02020603050405020304" pitchFamily="18" charset="0"/>
                <a:cs typeface="Times New Roman" panose="02020603050405020304" pitchFamily="18" charset="0"/>
              </a:rPr>
              <a:t>Dataset</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Customer data from a subscription-based B2B service provider</a:t>
            </a:r>
          </a:p>
          <a:p>
            <a:pPr marL="0" indent="0" algn="just">
              <a:buNone/>
            </a:pPr>
            <a:r>
              <a:rPr lang="en-IN" sz="2600" u="sng" dirty="0">
                <a:latin typeface="Times New Roman" panose="02020603050405020304" pitchFamily="18" charset="0"/>
                <a:cs typeface="Times New Roman" panose="02020603050405020304" pitchFamily="18" charset="0"/>
              </a:rPr>
              <a:t>Algorithms</a:t>
            </a:r>
          </a:p>
          <a:p>
            <a:pPr marL="0" indent="0" algn="just">
              <a:buNone/>
            </a:pPr>
            <a:r>
              <a:rPr lang="en-IN" sz="2600" dirty="0">
                <a:latin typeface="Times New Roman" panose="02020603050405020304" pitchFamily="18" charset="0"/>
                <a:cs typeface="Times New Roman" panose="02020603050405020304" pitchFamily="18" charset="0"/>
              </a:rPr>
              <a:t>	- Random Forest</a:t>
            </a:r>
          </a:p>
          <a:p>
            <a:pPr marL="0" indent="0" algn="just">
              <a:buNone/>
            </a:pPr>
            <a:r>
              <a:rPr lang="en-IN" sz="2600" dirty="0">
                <a:latin typeface="Times New Roman" panose="02020603050405020304" pitchFamily="18" charset="0"/>
                <a:cs typeface="Times New Roman" panose="02020603050405020304" pitchFamily="18" charset="0"/>
              </a:rPr>
              <a:t>	- Naive Bayes</a:t>
            </a:r>
          </a:p>
          <a:p>
            <a:pPr marL="0" indent="0" algn="just">
              <a:buNone/>
            </a:pPr>
            <a:r>
              <a:rPr lang="en-IN" sz="2600" dirty="0">
                <a:latin typeface="Times New Roman" panose="02020603050405020304" pitchFamily="18" charset="0"/>
                <a:cs typeface="Times New Roman" panose="02020603050405020304" pitchFamily="18" charset="0"/>
              </a:rPr>
              <a:t>	- Extreme Gradient Boosting (</a:t>
            </a:r>
            <a:r>
              <a:rPr lang="en-IN" sz="2600" dirty="0" err="1">
                <a:latin typeface="Times New Roman" panose="02020603050405020304" pitchFamily="18" charset="0"/>
                <a:cs typeface="Times New Roman" panose="02020603050405020304" pitchFamily="18" charset="0"/>
              </a:rPr>
              <a:t>XGBoost</a:t>
            </a:r>
            <a:r>
              <a:rPr lang="en-IN" sz="2600" dirty="0">
                <a:latin typeface="Times New Roman" panose="02020603050405020304" pitchFamily="18" charset="0"/>
                <a:cs typeface="Times New Roman" panose="02020603050405020304" pitchFamily="18" charset="0"/>
              </a:rPr>
              <a:t>)</a:t>
            </a:r>
          </a:p>
          <a:p>
            <a:pPr marL="0" indent="0" algn="just">
              <a:buNone/>
            </a:pPr>
            <a:r>
              <a:rPr lang="en-IN" sz="2600" u="sng" dirty="0">
                <a:latin typeface="Times New Roman" panose="02020603050405020304" pitchFamily="18" charset="0"/>
                <a:cs typeface="Times New Roman" panose="02020603050405020304" pitchFamily="18" charset="0"/>
              </a:rPr>
              <a:t>Drawbacks</a:t>
            </a:r>
          </a:p>
          <a:p>
            <a:pPr marL="0" indent="0" algn="just">
              <a:buNone/>
            </a:pPr>
            <a:r>
              <a:rPr lang="en-IN" sz="2600" dirty="0">
                <a:latin typeface="Times New Roman" panose="02020603050405020304" pitchFamily="18" charset="0"/>
                <a:cs typeface="Times New Roman" panose="02020603050405020304" pitchFamily="18" charset="0"/>
              </a:rPr>
              <a:t>	- </a:t>
            </a:r>
            <a:r>
              <a:rPr lang="en-US" sz="2600" dirty="0">
                <a:latin typeface="Times New Roman" panose="02020603050405020304" pitchFamily="18" charset="0"/>
                <a:cs typeface="Times New Roman" panose="02020603050405020304" pitchFamily="18" charset="0"/>
              </a:rPr>
              <a:t>Not addressed class imbalance problem</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9487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9E06-14AB-DE77-D42C-5761C85F4B98}"/>
              </a:ext>
            </a:extLst>
          </p:cNvPr>
          <p:cNvSpPr>
            <a:spLocks noGrp="1"/>
          </p:cNvSpPr>
          <p:nvPr>
            <p:ph type="title"/>
          </p:nvPr>
        </p:nvSpPr>
        <p:spPr>
          <a:xfrm>
            <a:off x="711926" y="393290"/>
            <a:ext cx="7773313" cy="1022555"/>
          </a:xfrm>
        </p:spPr>
        <p:txBody>
          <a:bodyPr>
            <a:noAutofit/>
          </a:bodyPr>
          <a:lstStyle/>
          <a:p>
            <a:pPr algn="ctr"/>
            <a:r>
              <a:rPr lang="en-US" sz="2400" dirty="0">
                <a:latin typeface="Times New Roman" panose="02020603050405020304" pitchFamily="18" charset="0"/>
                <a:cs typeface="Times New Roman" panose="02020603050405020304" pitchFamily="18" charset="0"/>
              </a:rPr>
              <a:t>The perils of proactive churn prevention-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Using plan recommendations</a:t>
            </a:r>
          </a:p>
        </p:txBody>
      </p:sp>
      <p:sp>
        <p:nvSpPr>
          <p:cNvPr id="3" name="Content Placeholder 2">
            <a:extLst>
              <a:ext uri="{FF2B5EF4-FFF2-40B4-BE49-F238E27FC236}">
                <a16:creationId xmlns:a16="http://schemas.microsoft.com/office/drawing/2014/main" id="{6EC13013-B24A-F269-F39E-56F90EBD1799}"/>
              </a:ext>
            </a:extLst>
          </p:cNvPr>
          <p:cNvSpPr>
            <a:spLocks noGrp="1"/>
          </p:cNvSpPr>
          <p:nvPr>
            <p:ph idx="1"/>
          </p:nvPr>
        </p:nvSpPr>
        <p:spPr>
          <a:xfrm>
            <a:off x="711927" y="1319515"/>
            <a:ext cx="8658216" cy="5228769"/>
          </a:xfrm>
        </p:spPr>
        <p:txBody>
          <a:bodyPr>
            <a:normAutofit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The study investigates proactive churn prevention using pricing plan recommendations, based on a large-scale field experiment. Surprisingly, encouraging customers to switch to more cost-effective plans led to increased churn rates, possibly due to reduced customer inertia and heightened awareness of usage patterns. The findings emphasize targeted retention strategies to balance customer satisfaction and firm profitability</a:t>
            </a:r>
          </a:p>
          <a:p>
            <a:pPr marL="0" indent="0" algn="just">
              <a:buNone/>
            </a:pPr>
            <a:r>
              <a:rPr lang="en-US" sz="2000" u="sng" dirty="0">
                <a:latin typeface="Times New Roman" panose="02020603050405020304" pitchFamily="18" charset="0"/>
                <a:cs typeface="Times New Roman" panose="02020603050405020304" pitchFamily="18" charset="0"/>
              </a:rPr>
              <a:t>Dataset</a:t>
            </a:r>
            <a:r>
              <a:rPr lang="en-US" sz="2000" dirty="0">
                <a:latin typeface="Times New Roman" panose="02020603050405020304" pitchFamily="18" charset="0"/>
                <a:cs typeface="Times New Roman" panose="02020603050405020304" pitchFamily="18" charset="0"/>
              </a:rPr>
              <a:t>: Customer data including plan choice, monthly revenue for three months </a:t>
            </a:r>
          </a:p>
          <a:p>
            <a:pPr marL="0" indent="0" algn="just">
              <a:buNone/>
            </a:pPr>
            <a:r>
              <a:rPr lang="en-US" sz="2000" dirty="0">
                <a:latin typeface="Times New Roman" panose="02020603050405020304" pitchFamily="18" charset="0"/>
                <a:cs typeface="Times New Roman" panose="02020603050405020304" pitchFamily="18" charset="0"/>
              </a:rPr>
              <a:t>pre- and post-campaign, and churn behavior over the same period.</a:t>
            </a:r>
          </a:p>
          <a:p>
            <a:pPr marL="0" indent="0" algn="just">
              <a:buNone/>
            </a:pPr>
            <a:r>
              <a:rPr lang="en-IN" sz="2000" u="sng" dirty="0">
                <a:latin typeface="Times New Roman" panose="02020603050405020304" pitchFamily="18" charset="0"/>
                <a:cs typeface="Times New Roman" panose="02020603050405020304" pitchFamily="18" charset="0"/>
              </a:rPr>
              <a:t>Algorithms</a:t>
            </a:r>
          </a:p>
          <a:p>
            <a:pPr marL="0" indent="0" algn="just">
              <a:buNone/>
            </a:pPr>
            <a:r>
              <a:rPr lang="en-IN" sz="2000" dirty="0">
                <a:latin typeface="Times New Roman" panose="02020603050405020304" pitchFamily="18" charset="0"/>
                <a:cs typeface="Times New Roman" panose="02020603050405020304" pitchFamily="18" charset="0"/>
              </a:rPr>
              <a:t>	- Propensity Model</a:t>
            </a:r>
          </a:p>
          <a:p>
            <a:pPr marL="0" indent="0" algn="just">
              <a:buNone/>
            </a:pPr>
            <a:r>
              <a:rPr lang="en-IN" sz="2000" dirty="0">
                <a:latin typeface="Times New Roman" panose="02020603050405020304" pitchFamily="18" charset="0"/>
                <a:cs typeface="Times New Roman" panose="02020603050405020304" pitchFamily="18" charset="0"/>
              </a:rPr>
              <a:t>	- Regression Adjustment With Propensity Scores</a:t>
            </a:r>
          </a:p>
          <a:p>
            <a:pPr marL="0" indent="0" algn="just">
              <a:buNone/>
            </a:pPr>
            <a:r>
              <a:rPr lang="en-IN" sz="2000" dirty="0">
                <a:latin typeface="Times New Roman" panose="02020603050405020304" pitchFamily="18" charset="0"/>
                <a:cs typeface="Times New Roman" panose="02020603050405020304" pitchFamily="18" charset="0"/>
              </a:rPr>
              <a:t>	- Heterogeneity Analysis</a:t>
            </a:r>
          </a:p>
          <a:p>
            <a:pPr marL="0" indent="0" algn="just">
              <a:buNone/>
            </a:pPr>
            <a:r>
              <a:rPr lang="en-IN" sz="2000" u="sng" dirty="0">
                <a:latin typeface="Times New Roman" panose="02020603050405020304" pitchFamily="18" charset="0"/>
                <a:cs typeface="Times New Roman" panose="02020603050405020304" pitchFamily="18" charset="0"/>
              </a:rPr>
              <a:t>Drawbacks</a:t>
            </a:r>
          </a:p>
          <a:p>
            <a:pPr marL="0" indent="0" algn="just">
              <a:buNone/>
            </a:pPr>
            <a:r>
              <a:rPr lang="en-IN" sz="2000" dirty="0">
                <a:latin typeface="Times New Roman" panose="02020603050405020304" pitchFamily="18" charset="0"/>
                <a:cs typeface="Times New Roman" panose="02020603050405020304" pitchFamily="18" charset="0"/>
              </a:rPr>
              <a:t>	- Conventional algorithms are used for prediction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8866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9E06-14AB-DE77-D42C-5761C85F4B98}"/>
              </a:ext>
            </a:extLst>
          </p:cNvPr>
          <p:cNvSpPr>
            <a:spLocks noGrp="1"/>
          </p:cNvSpPr>
          <p:nvPr>
            <p:ph type="title"/>
          </p:nvPr>
        </p:nvSpPr>
        <p:spPr>
          <a:xfrm>
            <a:off x="554610" y="294968"/>
            <a:ext cx="8874525" cy="717755"/>
          </a:xfrm>
        </p:spPr>
        <p:txBody>
          <a:bodyPr>
            <a:normAutofit/>
          </a:bodyPr>
          <a:lstStyle/>
          <a:p>
            <a:pPr algn="ctr"/>
            <a:r>
              <a:rPr lang="en-US" sz="2400" dirty="0">
                <a:latin typeface="Times New Roman" panose="02020603050405020304" pitchFamily="18" charset="0"/>
                <a:cs typeface="Times New Roman" panose="02020603050405020304" pitchFamily="18" charset="0"/>
              </a:rPr>
              <a:t>Applying survival analysis to telecom churn data</a:t>
            </a:r>
          </a:p>
        </p:txBody>
      </p:sp>
      <p:sp>
        <p:nvSpPr>
          <p:cNvPr id="3" name="Content Placeholder 2">
            <a:extLst>
              <a:ext uri="{FF2B5EF4-FFF2-40B4-BE49-F238E27FC236}">
                <a16:creationId xmlns:a16="http://schemas.microsoft.com/office/drawing/2014/main" id="{6EC13013-B24A-F269-F39E-56F90EBD1799}"/>
              </a:ext>
            </a:extLst>
          </p:cNvPr>
          <p:cNvSpPr>
            <a:spLocks noGrp="1"/>
          </p:cNvSpPr>
          <p:nvPr>
            <p:ph idx="1"/>
          </p:nvPr>
        </p:nvSpPr>
        <p:spPr>
          <a:xfrm>
            <a:off x="685800" y="875071"/>
            <a:ext cx="8743335" cy="4798141"/>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This study applies survival analysis to telecom churn data to predict customer attrition. Utilizing the Cox Proportional Hazard Model and Kaplan-Meier estimator, the research examines the impact of variables like customer tenure, age, tariffs, and campaigns on churn risk. The results provide actionable insights for mobile service providers to enhance customer retention strategies by identifying at-risk customers and optimizing marketing efforts.</a:t>
            </a:r>
          </a:p>
          <a:p>
            <a:pPr marL="0" indent="0" algn="just">
              <a:buNone/>
            </a:pPr>
            <a:r>
              <a:rPr lang="en-US" sz="2000" u="sng" dirty="0">
                <a:latin typeface="Times New Roman" panose="02020603050405020304" pitchFamily="18" charset="0"/>
                <a:cs typeface="Times New Roman" panose="02020603050405020304" pitchFamily="18" charset="0"/>
              </a:rPr>
              <a:t>Dataset</a:t>
            </a:r>
            <a:r>
              <a:rPr lang="en-US" sz="2000" dirty="0">
                <a:latin typeface="Times New Roman" panose="02020603050405020304" pitchFamily="18" charset="0"/>
                <a:cs typeface="Times New Roman" panose="02020603050405020304" pitchFamily="18" charset="0"/>
              </a:rPr>
              <a:t>: Real mobile service operator dataset (sample of 10,365 customers from 2015, with churn data)</a:t>
            </a:r>
          </a:p>
          <a:p>
            <a:pPr marL="0" indent="0">
              <a:buNone/>
            </a:pPr>
            <a:r>
              <a:rPr lang="en-IN" sz="2000" u="sng" dirty="0">
                <a:latin typeface="Times New Roman" panose="02020603050405020304" pitchFamily="18" charset="0"/>
                <a:cs typeface="Times New Roman" panose="02020603050405020304" pitchFamily="18" charset="0"/>
              </a:rPr>
              <a:t>Algorithms</a:t>
            </a:r>
          </a:p>
          <a:p>
            <a:pPr marL="0" indent="0">
              <a:buNone/>
            </a:pPr>
            <a:r>
              <a:rPr lang="en-IN" sz="2000" dirty="0">
                <a:latin typeface="Times New Roman" panose="02020603050405020304" pitchFamily="18" charset="0"/>
                <a:cs typeface="Times New Roman" panose="02020603050405020304" pitchFamily="18" charset="0"/>
              </a:rPr>
              <a:t>	- Survival Analysis</a:t>
            </a:r>
          </a:p>
          <a:p>
            <a:pPr marL="0" indent="0">
              <a:buNone/>
            </a:pPr>
            <a:r>
              <a:rPr lang="en-IN" sz="2000" dirty="0">
                <a:latin typeface="Times New Roman" panose="02020603050405020304" pitchFamily="18" charset="0"/>
                <a:cs typeface="Times New Roman" panose="02020603050405020304" pitchFamily="18" charset="0"/>
              </a:rPr>
              <a:t>	- Cox Proportional Hazard Model (CPHM)</a:t>
            </a:r>
          </a:p>
          <a:p>
            <a:pPr marL="0" indent="0">
              <a:buNone/>
            </a:pPr>
            <a:r>
              <a:rPr lang="en-IN" sz="2000" dirty="0">
                <a:latin typeface="Times New Roman" panose="02020603050405020304" pitchFamily="18" charset="0"/>
                <a:cs typeface="Times New Roman" panose="02020603050405020304" pitchFamily="18" charset="0"/>
              </a:rPr>
              <a:t>	- Kaplan-Meier Estimator</a:t>
            </a:r>
          </a:p>
          <a:p>
            <a:pPr marL="0" indent="0">
              <a:buNone/>
            </a:pPr>
            <a:r>
              <a:rPr lang="en-IN" sz="2000" u="sng" dirty="0">
                <a:latin typeface="Times New Roman" panose="02020603050405020304" pitchFamily="18" charset="0"/>
                <a:cs typeface="Times New Roman" panose="02020603050405020304" pitchFamily="18" charset="0"/>
              </a:rPr>
              <a:t>Drawbacks</a:t>
            </a:r>
          </a:p>
          <a:p>
            <a:pPr marL="0" indent="0">
              <a:buNone/>
            </a:pPr>
            <a:r>
              <a:rPr lang="en-IN" sz="2000" dirty="0">
                <a:latin typeface="Times New Roman" panose="02020603050405020304" pitchFamily="18" charset="0"/>
                <a:cs typeface="Times New Roman" panose="02020603050405020304" pitchFamily="18" charset="0"/>
              </a:rPr>
              <a:t>	- Considered the survival chances of consumers</a:t>
            </a:r>
            <a:endParaRPr lang="en-US" sz="20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p>
        </p:txBody>
      </p:sp>
    </p:spTree>
    <p:extLst>
      <p:ext uri="{BB962C8B-B14F-4D97-AF65-F5344CB8AC3E}">
        <p14:creationId xmlns:p14="http://schemas.microsoft.com/office/powerpoint/2010/main" val="2701476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9E06-14AB-DE77-D42C-5761C85F4B98}"/>
              </a:ext>
            </a:extLst>
          </p:cNvPr>
          <p:cNvSpPr>
            <a:spLocks noGrp="1"/>
          </p:cNvSpPr>
          <p:nvPr>
            <p:ph type="title"/>
          </p:nvPr>
        </p:nvSpPr>
        <p:spPr>
          <a:xfrm>
            <a:off x="711926" y="825910"/>
            <a:ext cx="8314087" cy="1470778"/>
          </a:xfrm>
        </p:spPr>
        <p:txBody>
          <a:bodyPr>
            <a:normAutofit/>
          </a:bodyPr>
          <a:lstStyle/>
          <a:p>
            <a:pPr algn="ctr"/>
            <a:r>
              <a:rPr lang="en-US" sz="2400"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6EC13013-B24A-F269-F39E-56F90EBD1799}"/>
              </a:ext>
            </a:extLst>
          </p:cNvPr>
          <p:cNvSpPr>
            <a:spLocks noGrp="1"/>
          </p:cNvSpPr>
          <p:nvPr>
            <p:ph idx="1"/>
          </p:nvPr>
        </p:nvSpPr>
        <p:spPr>
          <a:xfrm>
            <a:off x="685800" y="1713053"/>
            <a:ext cx="8340213" cy="4478741"/>
          </a:xfrm>
        </p:spPr>
        <p:txBody>
          <a:bodyPr>
            <a:normAutofit/>
          </a:bodyPr>
          <a:lstStyle/>
          <a:p>
            <a:pPr marL="0" indent="0">
              <a:buNone/>
            </a:pPr>
            <a:r>
              <a:rPr lang="en-IN" sz="2000" u="sng" dirty="0">
                <a:latin typeface="Times New Roman" panose="02020603050405020304" pitchFamily="18" charset="0"/>
                <a:cs typeface="Times New Roman" panose="02020603050405020304" pitchFamily="18" charset="0"/>
              </a:rPr>
              <a:t>Algorithms</a:t>
            </a:r>
          </a:p>
          <a:p>
            <a:pPr marL="0" indent="0">
              <a:buNone/>
            </a:pPr>
            <a:r>
              <a:rPr lang="en-IN" sz="2000" dirty="0">
                <a:latin typeface="Times New Roman" panose="02020603050405020304" pitchFamily="18" charset="0"/>
                <a:cs typeface="Times New Roman" panose="02020603050405020304" pitchFamily="18" charset="0"/>
              </a:rPr>
              <a:t>	- Logistic Regression</a:t>
            </a:r>
          </a:p>
          <a:p>
            <a:pPr marL="0" indent="0">
              <a:buNone/>
            </a:pPr>
            <a:r>
              <a:rPr lang="en-IN" sz="2000" dirty="0">
                <a:latin typeface="Times New Roman" panose="02020603050405020304" pitchFamily="18" charset="0"/>
                <a:cs typeface="Times New Roman" panose="02020603050405020304" pitchFamily="18" charset="0"/>
              </a:rPr>
              <a:t>	- Support Vector Classifier</a:t>
            </a:r>
          </a:p>
          <a:p>
            <a:pPr marL="0" indent="0">
              <a:buNone/>
            </a:pPr>
            <a:r>
              <a:rPr lang="en-IN" sz="2000" dirty="0">
                <a:latin typeface="Times New Roman" panose="02020603050405020304" pitchFamily="18" charset="0"/>
                <a:cs typeface="Times New Roman" panose="02020603050405020304" pitchFamily="18" charset="0"/>
              </a:rPr>
              <a:t>	- Naive Bayes</a:t>
            </a:r>
          </a:p>
          <a:p>
            <a:pPr marL="0" indent="0">
              <a:buNone/>
            </a:pPr>
            <a:r>
              <a:rPr lang="en-IN" sz="2000" dirty="0">
                <a:latin typeface="Times New Roman" panose="02020603050405020304" pitchFamily="18" charset="0"/>
                <a:cs typeface="Times New Roman" panose="02020603050405020304" pitchFamily="18" charset="0"/>
              </a:rPr>
              <a:t>	- Decision Tree</a:t>
            </a:r>
          </a:p>
          <a:p>
            <a:pPr marL="0" indent="0">
              <a:buNone/>
            </a:pPr>
            <a:r>
              <a:rPr lang="en-IN" sz="2000" dirty="0">
                <a:latin typeface="Times New Roman" panose="02020603050405020304" pitchFamily="18" charset="0"/>
                <a:cs typeface="Times New Roman" panose="02020603050405020304" pitchFamily="18" charset="0"/>
              </a:rPr>
              <a:t>	- Random Forest</a:t>
            </a:r>
          </a:p>
          <a:p>
            <a:pPr marL="0" indent="0">
              <a:buNone/>
            </a:pPr>
            <a:r>
              <a:rPr lang="en-IN" sz="2000" u="sng" dirty="0">
                <a:latin typeface="Times New Roman" panose="02020603050405020304" pitchFamily="18" charset="0"/>
                <a:cs typeface="Times New Roman" panose="02020603050405020304" pitchFamily="18" charset="0"/>
              </a:rPr>
              <a:t>Advantages</a:t>
            </a:r>
          </a:p>
          <a:p>
            <a:pPr marL="0" indent="0">
              <a:buNone/>
            </a:pPr>
            <a:r>
              <a:rPr lang="en-IN" sz="2000" dirty="0">
                <a:latin typeface="Times New Roman" panose="02020603050405020304" pitchFamily="18" charset="0"/>
                <a:cs typeface="Times New Roman" panose="02020603050405020304" pitchFamily="18" charset="0"/>
              </a:rPr>
              <a:t>	- Handle class Imbalance problem</a:t>
            </a:r>
          </a:p>
          <a:p>
            <a:pPr marL="0" indent="0">
              <a:buNone/>
            </a:pPr>
            <a:r>
              <a:rPr lang="en-IN" sz="2000" dirty="0">
                <a:latin typeface="Times New Roman" panose="02020603050405020304" pitchFamily="18" charset="0"/>
                <a:cs typeface="Times New Roman" panose="02020603050405020304" pitchFamily="18" charset="0"/>
              </a:rPr>
              <a:t>	- Feature elimination using Variance Inflation Factor</a:t>
            </a: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sz="2400" dirty="0"/>
          </a:p>
        </p:txBody>
      </p:sp>
    </p:spTree>
    <p:extLst>
      <p:ext uri="{BB962C8B-B14F-4D97-AF65-F5344CB8AC3E}">
        <p14:creationId xmlns:p14="http://schemas.microsoft.com/office/powerpoint/2010/main" val="705985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C9E06-14AB-DE77-D42C-5761C85F4B98}"/>
              </a:ext>
            </a:extLst>
          </p:cNvPr>
          <p:cNvSpPr>
            <a:spLocks noGrp="1"/>
          </p:cNvSpPr>
          <p:nvPr>
            <p:ph type="title"/>
          </p:nvPr>
        </p:nvSpPr>
        <p:spPr>
          <a:xfrm>
            <a:off x="711926" y="578733"/>
            <a:ext cx="8579558" cy="891251"/>
          </a:xfrm>
        </p:spPr>
        <p:txBody>
          <a:bodyPr>
            <a:normAutofit/>
          </a:bodyPr>
          <a:lstStyle/>
          <a:p>
            <a:pPr algn="ctr"/>
            <a:r>
              <a:rPr lang="en-US" sz="24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6EC13013-B24A-F269-F39E-56F90EBD1799}"/>
              </a:ext>
            </a:extLst>
          </p:cNvPr>
          <p:cNvSpPr>
            <a:spLocks noGrp="1"/>
          </p:cNvSpPr>
          <p:nvPr>
            <p:ph idx="1"/>
          </p:nvPr>
        </p:nvSpPr>
        <p:spPr>
          <a:xfrm>
            <a:off x="685800" y="1226917"/>
            <a:ext cx="8724418" cy="4259483"/>
          </a:xfrm>
        </p:spPr>
        <p:txBody>
          <a:bodyPr>
            <a:normAutofit fontScale="40000" lnSpcReduction="20000"/>
          </a:bodyPr>
          <a:lstStyle/>
          <a:p>
            <a:pPr marL="457200" indent="-457200" algn="just">
              <a:buAutoNum type="arabicPeriod"/>
            </a:pPr>
            <a:r>
              <a:rPr lang="en-US" sz="5000" dirty="0">
                <a:latin typeface="Times New Roman" panose="02020603050405020304" pitchFamily="18" charset="0"/>
                <a:cs typeface="Times New Roman" panose="02020603050405020304" pitchFamily="18" charset="0"/>
              </a:rPr>
              <a:t>Lalwani, Praveen &amp; Mishra, Manas &amp; Chadha, Jasroop &amp; Sethi, Pratyush. (2022). Customer churn prediction system: a machine learning approach. Computing. </a:t>
            </a:r>
          </a:p>
          <a:p>
            <a:pPr marL="457200" indent="-457200" algn="just">
              <a:buAutoNum type="arabicPeriod"/>
            </a:pPr>
            <a:r>
              <a:rPr lang="en-US" sz="5000" dirty="0">
                <a:latin typeface="Times New Roman" panose="02020603050405020304" pitchFamily="18" charset="0"/>
                <a:cs typeface="Times New Roman" panose="02020603050405020304" pitchFamily="18" charset="0"/>
              </a:rPr>
              <a:t>Ahmad, A.K., Jafar, A. &amp; Aljoumaa, K. Customer churn prediction in telecom using machine learning in big data platform. J Big Data 6, 28 (2019). </a:t>
            </a:r>
          </a:p>
          <a:p>
            <a:pPr marL="457200" indent="-457200" algn="just">
              <a:buFont typeface="Arial" panose="020B0604020202020204" pitchFamily="34" charset="0"/>
              <a:buAutoNum type="arabicPeriod"/>
            </a:pPr>
            <a:r>
              <a:rPr lang="en-US" sz="5000" dirty="0">
                <a:latin typeface="Times New Roman" panose="02020603050405020304" pitchFamily="18" charset="0"/>
                <a:cs typeface="Times New Roman" panose="02020603050405020304" pitchFamily="18" charset="0"/>
              </a:rPr>
              <a:t>Benjamin Ghaffari &amp; Yasin Osman, Customer churn prediction using machine learning A study in the B2B subscription-based service context (2021).</a:t>
            </a:r>
          </a:p>
          <a:p>
            <a:pPr marL="457200" indent="-457200" algn="just">
              <a:buFont typeface="Arial" panose="020B0604020202020204" pitchFamily="34" charset="0"/>
              <a:buAutoNum type="arabicPeriod"/>
            </a:pPr>
            <a:r>
              <a:rPr lang="en-US" sz="5000" dirty="0">
                <a:latin typeface="Times New Roman" panose="02020603050405020304" pitchFamily="18" charset="0"/>
                <a:cs typeface="Times New Roman" panose="02020603050405020304" pitchFamily="18" charset="0"/>
              </a:rPr>
              <a:t>Ascarza E, Iyengar R, Schleicher M. The perils of proactive churn prevention using plan recommendations: evidence from a field experiment. J Market Res. 2016.</a:t>
            </a:r>
          </a:p>
          <a:p>
            <a:pPr marL="457200" indent="-457200" algn="just">
              <a:buFont typeface="Arial" panose="020B0604020202020204" pitchFamily="34" charset="0"/>
              <a:buAutoNum type="arabicPeriod"/>
            </a:pPr>
            <a:r>
              <a:rPr lang="en-US" sz="5000" dirty="0">
                <a:latin typeface="Times New Roman" panose="02020603050405020304" pitchFamily="18" charset="0"/>
                <a:cs typeface="Times New Roman" panose="02020603050405020304" pitchFamily="18" charset="0"/>
              </a:rPr>
              <a:t>Melik Masarifoglu, Ali Hakan Buyuklu, Applying Survival Analysis to Telecom Churn Data, American Journal of Theoretical and Applied Statistics. Volume 8, Issue 6, November 2019.</a:t>
            </a:r>
          </a:p>
          <a:p>
            <a:pPr marL="457200" indent="-457200">
              <a:buFont typeface="Arial" panose="020B0604020202020204" pitchFamily="34" charset="0"/>
              <a:buAutoNum type="arabicPeriod"/>
            </a:pPr>
            <a:endParaRPr lang="en-US" sz="2400" dirty="0"/>
          </a:p>
          <a:p>
            <a:pPr marL="457200" indent="-457200">
              <a:buAutoNum type="arabicPeriod"/>
            </a:pPr>
            <a:endParaRPr lang="en-US" sz="2400" dirty="0"/>
          </a:p>
          <a:p>
            <a:pPr marL="457200" indent="-457200">
              <a:buAutoNum type="arabicPeriod"/>
            </a:pPr>
            <a:endParaRPr lang="en-US" sz="2400" dirty="0"/>
          </a:p>
        </p:txBody>
      </p:sp>
    </p:spTree>
    <p:extLst>
      <p:ext uri="{BB962C8B-B14F-4D97-AF65-F5344CB8AC3E}">
        <p14:creationId xmlns:p14="http://schemas.microsoft.com/office/powerpoint/2010/main" val="438039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43230-1E8F-5776-1F7E-0F28C7081C50}"/>
              </a:ext>
            </a:extLst>
          </p:cNvPr>
          <p:cNvSpPr>
            <a:spLocks noGrp="1"/>
          </p:cNvSpPr>
          <p:nvPr>
            <p:ph type="ctrTitle"/>
          </p:nvPr>
        </p:nvSpPr>
        <p:spPr>
          <a:xfrm>
            <a:off x="2969342" y="2150005"/>
            <a:ext cx="5152103" cy="1825096"/>
          </a:xfrm>
        </p:spPr>
        <p:txBody>
          <a:bodyPr>
            <a:normAutofit fontScale="90000"/>
          </a:bodyPr>
          <a:lstStyle/>
          <a:p>
            <a:pPr algn="ctr"/>
            <a:r>
              <a:rPr lang="en-US" sz="7200" dirty="0">
                <a:latin typeface="Times New Roman" panose="02020603050405020304" pitchFamily="18" charset="0"/>
                <a:cs typeface="Times New Roman" panose="02020603050405020304" pitchFamily="18" charset="0"/>
              </a:rPr>
              <a:t>THANK YOU </a:t>
            </a:r>
            <a:endParaRPr lang="en-IN" sz="7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7BC5F98-24EE-3363-B77B-F3D1A2BCAE1D}"/>
              </a:ext>
            </a:extLst>
          </p:cNvPr>
          <p:cNvSpPr>
            <a:spLocks noGrp="1"/>
          </p:cNvSpPr>
          <p:nvPr>
            <p:ph type="subTitle" idx="1"/>
          </p:nvPr>
        </p:nvSpPr>
        <p:spPr/>
        <p:txBody>
          <a:bodyPr/>
          <a:lstStyle/>
          <a:p>
            <a:r>
              <a:rPr lang="en-IN" dirty="0"/>
              <a:t> </a:t>
            </a:r>
          </a:p>
        </p:txBody>
      </p:sp>
    </p:spTree>
    <p:extLst>
      <p:ext uri="{BB962C8B-B14F-4D97-AF65-F5344CB8AC3E}">
        <p14:creationId xmlns:p14="http://schemas.microsoft.com/office/powerpoint/2010/main" val="11595854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191</TotalTime>
  <Words>1033</Words>
  <Application>Microsoft Office PowerPoint</Application>
  <PresentationFormat>Widescreen</PresentationFormat>
  <Paragraphs>77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Times New Roman</vt:lpstr>
      <vt:lpstr>Trebuchet MS</vt:lpstr>
      <vt:lpstr>Wingdings 3</vt:lpstr>
      <vt:lpstr>Facet</vt:lpstr>
      <vt:lpstr> A LEARNING MODEL ON CUSTOMER CHURN FORECASTING FOR TELECOM PROVIDERS  SV Manikanta-21981A05D9 Syed Asmath-21981A05F9 T Ramakrishna-21981A05G5 T Shalini-21981A05H1  Mr. A A Narasimham, Assistant Professor   Computer Science and Engineering, Raghu Engineering College</vt:lpstr>
      <vt:lpstr>Objective – A Customer Churn Forecasting for telecom providers </vt:lpstr>
      <vt:lpstr>Abstract – A Customer Churn Forecasting for telecom providers </vt:lpstr>
      <vt:lpstr>Customer Churn Prediction System- A machine learning approach</vt:lpstr>
      <vt:lpstr>Customer Churn Prediction in Telecom – Using machine learning in big data platform</vt:lpstr>
      <vt:lpstr>Customer churn prediction using machine learning-  A study in the B2B subscription-based service context</vt:lpstr>
      <vt:lpstr>The perils of proactive churn prevention- Using plan recommendations</vt:lpstr>
      <vt:lpstr>Applying survival analysis to telecom churn data</vt:lpstr>
      <vt:lpstr>Proposed System</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Manikanta S V</dc:creator>
  <cp:lastModifiedBy>Syed Asmath</cp:lastModifiedBy>
  <cp:revision>1</cp:revision>
  <dcterms:created xsi:type="dcterms:W3CDTF">2024-10-06T10:10:49Z</dcterms:created>
  <dcterms:modified xsi:type="dcterms:W3CDTF">2024-10-06T13:41:14Z</dcterms:modified>
</cp:coreProperties>
</file>